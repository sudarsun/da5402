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29360" y="1273320"/>
            <a:ext cx="7687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729360" y="2079000"/>
            <a:ext cx="7687800" cy="226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124138F-F698-4CD1-B7AF-C141B152E718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8DA6C4B-9DC6-40BF-B07B-B1889EB84527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858C73-5446-4B31-83B2-3E93D369C6AB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36EF7EE-8BBC-46E9-8AA8-940C8C3CD691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29360" y="1273320"/>
            <a:ext cx="7687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729360" y="2079000"/>
            <a:ext cx="7687800" cy="226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3F190D3-4D47-4889-9F8D-80A8EAFA6164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29360" y="1273320"/>
            <a:ext cx="7687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729360" y="2079000"/>
            <a:ext cx="3751560" cy="226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68840" y="2079000"/>
            <a:ext cx="3751560" cy="226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692525-8545-44D2-849A-9550D1A93263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729360" y="1273320"/>
            <a:ext cx="76878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4C5ABB44-9F71-4CA8-9E04-C7BB7525EB55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F71EBF3-C196-4853-880B-9180EF3A61DD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6CFB54E-6787-4939-A677-C841A6F1ECA6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97D37B6C-B95A-4EF1-A635-9935645C4781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A919162-3FB0-44A4-8C5C-A8800CDDCBB1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2"/>
          <p:cNvSpPr/>
          <p:nvPr/>
        </p:nvSpPr>
        <p:spPr>
          <a:xfrm>
            <a:off x="0" y="0"/>
            <a:ext cx="9142920" cy="4867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" name="Google Shape;11;p2"/>
          <p:cNvGrpSpPr/>
          <p:nvPr/>
        </p:nvGrpSpPr>
        <p:grpSpPr>
          <a:xfrm>
            <a:off x="530280" y="1206360"/>
            <a:ext cx="1342080" cy="16560"/>
            <a:chOff x="530280" y="1206360"/>
            <a:chExt cx="1342080" cy="16560"/>
          </a:xfrm>
        </p:grpSpPr>
        <p:sp>
          <p:nvSpPr>
            <p:cNvPr id="2" name="Google Shape;12;p2"/>
            <p:cNvSpPr/>
            <p:nvPr/>
          </p:nvSpPr>
          <p:spPr>
            <a:xfrm rot="16200000">
              <a:off x="1380600" y="731160"/>
              <a:ext cx="16560" cy="96660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" name="Google Shape;13;p2"/>
            <p:cNvSpPr/>
            <p:nvPr/>
          </p:nvSpPr>
          <p:spPr>
            <a:xfrm rot="16200000">
              <a:off x="1009440" y="727200"/>
              <a:ext cx="16560" cy="97488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29360" y="1273320"/>
            <a:ext cx="768780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ldNum" idx="1"/>
          </p:nvPr>
        </p:nvSpPr>
        <p:spPr>
          <a:xfrm>
            <a:off x="8536320" y="474984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5BD808B-2D71-4125-AB80-6B2CFF178FF3}" type="slidenum">
              <a:rPr b="0" lang="en-US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74;p11"/>
          <p:cNvGrpSpPr/>
          <p:nvPr/>
        </p:nvGrpSpPr>
        <p:grpSpPr>
          <a:xfrm>
            <a:off x="530280" y="4184280"/>
            <a:ext cx="1342080" cy="16560"/>
            <a:chOff x="530280" y="4184280"/>
            <a:chExt cx="1342080" cy="16560"/>
          </a:xfrm>
        </p:grpSpPr>
        <p:sp>
          <p:nvSpPr>
            <p:cNvPr id="10" name="Google Shape;75;p11"/>
            <p:cNvSpPr/>
            <p:nvPr/>
          </p:nvSpPr>
          <p:spPr>
            <a:xfrm rot="16200000">
              <a:off x="1380600" y="3709080"/>
              <a:ext cx="16560" cy="966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" name="Google Shape;76;p11"/>
            <p:cNvSpPr/>
            <p:nvPr/>
          </p:nvSpPr>
          <p:spPr>
            <a:xfrm rot="16200000">
              <a:off x="1009440" y="3705120"/>
              <a:ext cx="16560" cy="97488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2" name="PlaceHolder 1"/>
          <p:cNvSpPr>
            <a:spLocks noGrp="1"/>
          </p:cNvSpPr>
          <p:nvPr>
            <p:ph type="sldNum" idx="2"/>
          </p:nvPr>
        </p:nvSpPr>
        <p:spPr>
          <a:xfrm>
            <a:off x="8536320" y="474984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294FB12-4386-4375-9543-BF5042451BD6}" type="slidenum">
              <a:rPr b="0" lang="en-US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ldNum" idx="3"/>
          </p:nvPr>
        </p:nvSpPr>
        <p:spPr>
          <a:xfrm>
            <a:off x="8536320" y="474984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B23052B-0DE6-4F50-96E4-CAFE96451892}" type="slidenum">
              <a:rPr b="0" lang="en-US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8;p3"/>
          <p:cNvGrpSpPr/>
          <p:nvPr/>
        </p:nvGrpSpPr>
        <p:grpSpPr>
          <a:xfrm>
            <a:off x="530280" y="1206360"/>
            <a:ext cx="1342080" cy="16560"/>
            <a:chOff x="530280" y="1206360"/>
            <a:chExt cx="1342080" cy="16560"/>
          </a:xfrm>
        </p:grpSpPr>
        <p:sp>
          <p:nvSpPr>
            <p:cNvPr id="15" name="Google Shape;19;p3"/>
            <p:cNvSpPr/>
            <p:nvPr/>
          </p:nvSpPr>
          <p:spPr>
            <a:xfrm rot="16200000">
              <a:off x="1380600" y="731160"/>
              <a:ext cx="16560" cy="966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" name="Google Shape;20;p3"/>
            <p:cNvSpPr/>
            <p:nvPr/>
          </p:nvSpPr>
          <p:spPr>
            <a:xfrm rot="16200000">
              <a:off x="1009440" y="727200"/>
              <a:ext cx="16560" cy="97488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7" name="PlaceHolder 1"/>
          <p:cNvSpPr>
            <a:spLocks noGrp="1"/>
          </p:cNvSpPr>
          <p:nvPr>
            <p:ph type="sldNum" idx="4"/>
          </p:nvPr>
        </p:nvSpPr>
        <p:spPr>
          <a:xfrm>
            <a:off x="8536320" y="474984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37F536C-155B-471E-878F-EB750B1303D3}" type="slidenum">
              <a:rPr b="0" lang="en-US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24;p4"/>
          <p:cNvSpPr/>
          <p:nvPr/>
        </p:nvSpPr>
        <p:spPr>
          <a:xfrm>
            <a:off x="0" y="0"/>
            <a:ext cx="9142920" cy="486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" name="Google Shape;25;p4"/>
          <p:cNvGrpSpPr/>
          <p:nvPr/>
        </p:nvGrpSpPr>
        <p:grpSpPr>
          <a:xfrm>
            <a:off x="530280" y="1206360"/>
            <a:ext cx="1342080" cy="16560"/>
            <a:chOff x="530280" y="1206360"/>
            <a:chExt cx="1342080" cy="16560"/>
          </a:xfrm>
        </p:grpSpPr>
        <p:sp>
          <p:nvSpPr>
            <p:cNvPr id="20" name="Google Shape;26;p4"/>
            <p:cNvSpPr/>
            <p:nvPr/>
          </p:nvSpPr>
          <p:spPr>
            <a:xfrm rot="16200000">
              <a:off x="1380600" y="731160"/>
              <a:ext cx="16560" cy="96660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" name="Google Shape;27;p4"/>
            <p:cNvSpPr/>
            <p:nvPr/>
          </p:nvSpPr>
          <p:spPr>
            <a:xfrm rot="16200000">
              <a:off x="1009440" y="727200"/>
              <a:ext cx="16560" cy="97488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9360" y="1273320"/>
            <a:ext cx="768780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9360" y="2079000"/>
            <a:ext cx="7687800" cy="226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sldNum" idx="5"/>
          </p:nvPr>
        </p:nvSpPr>
        <p:spPr>
          <a:xfrm>
            <a:off x="8536320" y="474984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1390BA-5DCF-462D-A7A8-CFCA9D807EE8}" type="slidenum">
              <a:rPr b="0" lang="en-US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32;p5"/>
          <p:cNvSpPr/>
          <p:nvPr/>
        </p:nvSpPr>
        <p:spPr>
          <a:xfrm>
            <a:off x="0" y="0"/>
            <a:ext cx="9142920" cy="486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8" name="Google Shape;33;p5"/>
          <p:cNvGrpSpPr/>
          <p:nvPr/>
        </p:nvGrpSpPr>
        <p:grpSpPr>
          <a:xfrm>
            <a:off x="530280" y="1206360"/>
            <a:ext cx="1342080" cy="16560"/>
            <a:chOff x="530280" y="1206360"/>
            <a:chExt cx="1342080" cy="16560"/>
          </a:xfrm>
        </p:grpSpPr>
        <p:sp>
          <p:nvSpPr>
            <p:cNvPr id="29" name="Google Shape;34;p5"/>
            <p:cNvSpPr/>
            <p:nvPr/>
          </p:nvSpPr>
          <p:spPr>
            <a:xfrm rot="16200000">
              <a:off x="1380600" y="731160"/>
              <a:ext cx="16560" cy="96660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" name="Google Shape;35;p5"/>
            <p:cNvSpPr/>
            <p:nvPr/>
          </p:nvSpPr>
          <p:spPr>
            <a:xfrm rot="16200000">
              <a:off x="1009440" y="727200"/>
              <a:ext cx="16560" cy="97488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729360" y="1273320"/>
            <a:ext cx="768780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729360" y="2079000"/>
            <a:ext cx="3751200" cy="226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68840" y="2079000"/>
            <a:ext cx="3751200" cy="226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6"/>
          </p:nvPr>
        </p:nvSpPr>
        <p:spPr>
          <a:xfrm>
            <a:off x="8536320" y="474984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383C20A-92AE-41A3-8C05-DE6431751DAC}" type="slidenum">
              <a:rPr b="0" lang="en-US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41;p6"/>
          <p:cNvSpPr/>
          <p:nvPr/>
        </p:nvSpPr>
        <p:spPr>
          <a:xfrm>
            <a:off x="0" y="0"/>
            <a:ext cx="9142920" cy="486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9" name="Google Shape;42;p6"/>
          <p:cNvGrpSpPr/>
          <p:nvPr/>
        </p:nvGrpSpPr>
        <p:grpSpPr>
          <a:xfrm>
            <a:off x="530280" y="1206360"/>
            <a:ext cx="1342080" cy="16560"/>
            <a:chOff x="530280" y="1206360"/>
            <a:chExt cx="1342080" cy="16560"/>
          </a:xfrm>
        </p:grpSpPr>
        <p:sp>
          <p:nvSpPr>
            <p:cNvPr id="40" name="Google Shape;43;p6"/>
            <p:cNvSpPr/>
            <p:nvPr/>
          </p:nvSpPr>
          <p:spPr>
            <a:xfrm rot="16200000">
              <a:off x="1380600" y="731160"/>
              <a:ext cx="16560" cy="96660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" name="Google Shape;44;p6"/>
            <p:cNvSpPr/>
            <p:nvPr/>
          </p:nvSpPr>
          <p:spPr>
            <a:xfrm rot="16200000">
              <a:off x="1009440" y="727200"/>
              <a:ext cx="16560" cy="97488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29360" y="1273320"/>
            <a:ext cx="768780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ldNum" idx="7"/>
          </p:nvPr>
        </p:nvSpPr>
        <p:spPr>
          <a:xfrm>
            <a:off x="8536320" y="474984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0209A1B-96F0-44A0-BD56-94CAED954003}" type="slidenum">
              <a:rPr b="0" lang="en-US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8;p7"/>
          <p:cNvSpPr/>
          <p:nvPr/>
        </p:nvSpPr>
        <p:spPr>
          <a:xfrm>
            <a:off x="0" y="0"/>
            <a:ext cx="9142920" cy="486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6" name="Google Shape;49;p7"/>
          <p:cNvGrpSpPr/>
          <p:nvPr/>
        </p:nvGrpSpPr>
        <p:grpSpPr>
          <a:xfrm>
            <a:off x="530280" y="1206360"/>
            <a:ext cx="1342080" cy="16560"/>
            <a:chOff x="530280" y="1206360"/>
            <a:chExt cx="1342080" cy="16560"/>
          </a:xfrm>
        </p:grpSpPr>
        <p:sp>
          <p:nvSpPr>
            <p:cNvPr id="47" name="Google Shape;50;p7"/>
            <p:cNvSpPr/>
            <p:nvPr/>
          </p:nvSpPr>
          <p:spPr>
            <a:xfrm rot="16200000">
              <a:off x="1380600" y="731160"/>
              <a:ext cx="16560" cy="96660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8" name="Google Shape;51;p7"/>
            <p:cNvSpPr/>
            <p:nvPr/>
          </p:nvSpPr>
          <p:spPr>
            <a:xfrm rot="16200000">
              <a:off x="1009440" y="727200"/>
              <a:ext cx="16560" cy="97488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9" name="PlaceHolder 1"/>
          <p:cNvSpPr>
            <a:spLocks noGrp="1"/>
          </p:cNvSpPr>
          <p:nvPr>
            <p:ph type="sldNum" idx="8"/>
          </p:nvPr>
        </p:nvSpPr>
        <p:spPr>
          <a:xfrm>
            <a:off x="8536320" y="474984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6C65D0E-5D72-4281-B22B-5289793C6F52}" type="slidenum">
              <a:rPr b="0" lang="en-US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6;p8"/>
          <p:cNvGrpSpPr/>
          <p:nvPr/>
        </p:nvGrpSpPr>
        <p:grpSpPr>
          <a:xfrm>
            <a:off x="530280" y="4184280"/>
            <a:ext cx="1342080" cy="16560"/>
            <a:chOff x="530280" y="4184280"/>
            <a:chExt cx="1342080" cy="16560"/>
          </a:xfrm>
        </p:grpSpPr>
        <p:sp>
          <p:nvSpPr>
            <p:cNvPr id="51" name="Google Shape;57;p8"/>
            <p:cNvSpPr/>
            <p:nvPr/>
          </p:nvSpPr>
          <p:spPr>
            <a:xfrm rot="16200000">
              <a:off x="1380600" y="3709080"/>
              <a:ext cx="16560" cy="966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" name="Google Shape;58;p8"/>
            <p:cNvSpPr/>
            <p:nvPr/>
          </p:nvSpPr>
          <p:spPr>
            <a:xfrm rot="16200000">
              <a:off x="1009440" y="3705120"/>
              <a:ext cx="16560" cy="97488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3" name="PlaceHolder 1"/>
          <p:cNvSpPr>
            <a:spLocks noGrp="1"/>
          </p:cNvSpPr>
          <p:nvPr>
            <p:ph type="sldNum" idx="9"/>
          </p:nvPr>
        </p:nvSpPr>
        <p:spPr>
          <a:xfrm>
            <a:off x="8536320" y="474984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5B9F538-D6A0-47A6-96BC-E176979BE3B0}" type="slidenum">
              <a:rPr b="0" lang="en-US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62;p9"/>
          <p:cNvSpPr/>
          <p:nvPr/>
        </p:nvSpPr>
        <p:spPr>
          <a:xfrm>
            <a:off x="0" y="0"/>
            <a:ext cx="4570920" cy="51426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5" name="Google Shape;63;p9"/>
          <p:cNvGrpSpPr/>
          <p:nvPr/>
        </p:nvGrpSpPr>
        <p:grpSpPr>
          <a:xfrm>
            <a:off x="530280" y="1206360"/>
            <a:ext cx="1342080" cy="16560"/>
            <a:chOff x="530280" y="1206360"/>
            <a:chExt cx="1342080" cy="16560"/>
          </a:xfrm>
        </p:grpSpPr>
        <p:sp>
          <p:nvSpPr>
            <p:cNvPr id="56" name="Google Shape;64;p9"/>
            <p:cNvSpPr/>
            <p:nvPr/>
          </p:nvSpPr>
          <p:spPr>
            <a:xfrm rot="16200000">
              <a:off x="1380600" y="731160"/>
              <a:ext cx="16560" cy="96660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" name="Google Shape;65;p9"/>
            <p:cNvSpPr/>
            <p:nvPr/>
          </p:nvSpPr>
          <p:spPr>
            <a:xfrm rot="16200000">
              <a:off x="1009440" y="727200"/>
              <a:ext cx="16560" cy="97488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58" name="PlaceHolder 1"/>
          <p:cNvSpPr>
            <a:spLocks noGrp="1"/>
          </p:cNvSpPr>
          <p:nvPr>
            <p:ph type="sldNum" idx="10"/>
          </p:nvPr>
        </p:nvSpPr>
        <p:spPr>
          <a:xfrm>
            <a:off x="8536320" y="474984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38C985-340B-4BCA-B695-5047D8DB0700}" type="slidenum">
              <a:rPr b="0" lang="en-US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Num" idx="11"/>
          </p:nvPr>
        </p:nvSpPr>
        <p:spPr>
          <a:xfrm>
            <a:off x="8536320" y="474984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6DB3897-37C9-41DC-B2B4-954966256C81}" type="slidenum">
              <a:rPr b="0" lang="en-US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956720" cy="166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2"/>
                </a:solidFill>
                <a:latin typeface="Raleway"/>
                <a:ea typeface="Raleway"/>
              </a:rPr>
              <a:t>DA5402: Machine Learning Operations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770760" y="1974240"/>
            <a:ext cx="7687080" cy="54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accent1"/>
                </a:solidFill>
                <a:latin typeface="Lato"/>
                <a:ea typeface="Lato"/>
              </a:rPr>
              <a:t>Let’s learn to manage Machine Learning end-to-end!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2255040" y="3615480"/>
            <a:ext cx="40680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Instructor: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Dr. Sudarsun Santhiappan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sudarsun@dsai.iitm.ac.in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608040"/>
            <a:ext cx="7687800" cy="53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chemeClr val="dk2"/>
                </a:solidFill>
                <a:latin typeface="Raleway"/>
                <a:ea typeface="Raleway"/>
              </a:rPr>
              <a:t>Course Objectives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371600"/>
            <a:ext cx="8457480" cy="342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24000">
              <a:lnSpc>
                <a:spcPct val="114000"/>
              </a:lnSpc>
              <a:spcBef>
                <a:spcPts val="1199"/>
              </a:spcBef>
              <a:buClr>
                <a:srgbClr val="595959"/>
              </a:buClr>
              <a:buFont typeface="Lato"/>
              <a:buAutoNum type="arabicPeriod"/>
            </a:pPr>
            <a:r>
              <a:rPr b="0" lang="en-US" sz="1800" spc="-1" strike="noStrike">
                <a:solidFill>
                  <a:schemeClr val="accent1"/>
                </a:solidFill>
                <a:latin typeface="Lato"/>
                <a:ea typeface="Lato"/>
              </a:rPr>
              <a:t>Understand the principles and challenges of MLOps.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4000"/>
              </a:lnSpc>
              <a:buClr>
                <a:srgbClr val="595959"/>
              </a:buClr>
              <a:buFont typeface="Lato"/>
              <a:buAutoNum type="arabicPeriod"/>
            </a:pPr>
            <a:r>
              <a:rPr b="0" lang="en-US" sz="1800" spc="-1" strike="noStrike">
                <a:solidFill>
                  <a:schemeClr val="accent1"/>
                </a:solidFill>
                <a:latin typeface="Lato"/>
                <a:ea typeface="Lato"/>
              </a:rPr>
              <a:t>Apply best version control and collaboration practices in ML projects.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4000"/>
              </a:lnSpc>
              <a:buClr>
                <a:srgbClr val="595959"/>
              </a:buClr>
              <a:buFont typeface="Lato"/>
              <a:buAutoNum type="arabicPeriod"/>
            </a:pPr>
            <a:r>
              <a:rPr b="0" lang="en-US" sz="1800" spc="-1" strike="noStrike">
                <a:solidFill>
                  <a:schemeClr val="accent1"/>
                </a:solidFill>
                <a:latin typeface="Lato"/>
                <a:ea typeface="Lato"/>
              </a:rPr>
              <a:t>Develop reproducible ML pipelines using tools like Git &amp; DVC.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4000"/>
              </a:lnSpc>
              <a:buClr>
                <a:srgbClr val="595959"/>
              </a:buClr>
              <a:buFont typeface="Lato"/>
              <a:buAutoNum type="arabicPeriod"/>
            </a:pPr>
            <a:r>
              <a:rPr b="0" lang="en-US" sz="1800" spc="-1" strike="noStrike">
                <a:solidFill>
                  <a:schemeClr val="accent1"/>
                </a:solidFill>
                <a:latin typeface="Lato"/>
                <a:ea typeface="Lato"/>
              </a:rPr>
              <a:t>Implement tracking methodologies using MLFlow to ensure reliability.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4000"/>
              </a:lnSpc>
              <a:buClr>
                <a:srgbClr val="595959"/>
              </a:buClr>
              <a:buFont typeface="Lato"/>
              <a:buAutoNum type="arabicPeriod"/>
            </a:pPr>
            <a:r>
              <a:rPr b="0" lang="en-US" sz="1800" spc="-1" strike="noStrike">
                <a:solidFill>
                  <a:schemeClr val="accent1"/>
                </a:solidFill>
                <a:latin typeface="Lato"/>
                <a:ea typeface="Lato"/>
              </a:rPr>
              <a:t>Deploy machine learning models in various production environments.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4000"/>
              </a:lnSpc>
              <a:buClr>
                <a:srgbClr val="595959"/>
              </a:buClr>
              <a:buFont typeface="Lato"/>
              <a:buAutoNum type="arabicPeriod"/>
            </a:pPr>
            <a:r>
              <a:rPr b="0" lang="en-US" sz="1800" spc="-1" strike="noStrike">
                <a:solidFill>
                  <a:schemeClr val="accent1"/>
                </a:solidFill>
                <a:latin typeface="Lato"/>
                <a:ea typeface="Lato"/>
              </a:rPr>
              <a:t>Monitor &amp; evaluate model performance to make necessary adjustments.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4000"/>
              </a:lnSpc>
              <a:buClr>
                <a:srgbClr val="595959"/>
              </a:buClr>
              <a:buFont typeface="Lato"/>
              <a:buAutoNum type="arabicPeriod"/>
            </a:pPr>
            <a:r>
              <a:rPr b="0" lang="en-US" sz="1800" spc="-1" strike="noStrike">
                <a:solidFill>
                  <a:schemeClr val="accent1"/>
                </a:solidFill>
                <a:latin typeface="Lato"/>
                <a:ea typeface="Lato"/>
              </a:rPr>
              <a:t>Scale data engineering workflows to handle large datasets &amp; high traffic.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4000"/>
              </a:lnSpc>
              <a:buClr>
                <a:srgbClr val="595959"/>
              </a:buClr>
              <a:buFont typeface="Lato"/>
              <a:buAutoNum type="arabicPeriod"/>
            </a:pPr>
            <a:r>
              <a:rPr b="0" lang="en-US" sz="1800" spc="-1" strike="noStrike">
                <a:solidFill>
                  <a:schemeClr val="accent1"/>
                </a:solidFill>
                <a:latin typeface="Lato"/>
                <a:ea typeface="Lato"/>
              </a:rPr>
              <a:t>Implement continuous integration and continuous deployment (CI/CD) pipelines.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7687800" cy="53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chemeClr val="dk2"/>
                </a:solidFill>
                <a:latin typeface="Raleway"/>
                <a:ea typeface="Raleway"/>
              </a:rPr>
              <a:t>Prerequisites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371600"/>
            <a:ext cx="8228880" cy="296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17520">
              <a:lnSpc>
                <a:spcPct val="149000"/>
              </a:lnSpc>
              <a:buClr>
                <a:srgbClr val="595959"/>
              </a:buClr>
              <a:buFont typeface="Lato"/>
              <a:buChar char="●"/>
            </a:pPr>
            <a:r>
              <a:rPr b="0" lang="en-US" sz="1500" spc="-1" strike="noStrike">
                <a:solidFill>
                  <a:schemeClr val="accent1"/>
                </a:solidFill>
                <a:latin typeface="Lato"/>
                <a:ea typeface="Lato"/>
              </a:rPr>
              <a:t>Knowledge of ML algorithms and techniques via DA5400 (FML) and DA5401 (DAL)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49000"/>
              </a:lnSpc>
              <a:buClr>
                <a:srgbClr val="595959"/>
              </a:buClr>
              <a:buFont typeface="Lato"/>
              <a:buChar char="●"/>
            </a:pPr>
            <a:r>
              <a:rPr b="0" lang="en-US" sz="1500" spc="-1" strike="noStrike">
                <a:solidFill>
                  <a:schemeClr val="accent1"/>
                </a:solidFill>
                <a:latin typeface="Lato"/>
                <a:ea typeface="Lato"/>
              </a:rPr>
              <a:t>Knowledge of basic DL and GenAI methods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49000"/>
              </a:lnSpc>
              <a:buClr>
                <a:srgbClr val="595959"/>
              </a:buClr>
              <a:buFont typeface="Lato"/>
              <a:buChar char="●"/>
            </a:pPr>
            <a:r>
              <a:rPr b="0" lang="en-US" sz="1500" spc="-1" strike="noStrike">
                <a:solidFill>
                  <a:schemeClr val="accent1"/>
                </a:solidFill>
                <a:latin typeface="Lato"/>
                <a:ea typeface="Lato"/>
              </a:rPr>
              <a:t>Proficiency in Python programming language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49000"/>
              </a:lnSpc>
              <a:buClr>
                <a:srgbClr val="595959"/>
              </a:buClr>
              <a:buFont typeface="Lato"/>
              <a:buChar char="●"/>
            </a:pPr>
            <a:r>
              <a:rPr b="0" lang="en-US" sz="1500" spc="-1" strike="noStrike">
                <a:solidFill>
                  <a:schemeClr val="accent1"/>
                </a:solidFill>
                <a:latin typeface="Lato"/>
                <a:ea typeface="Lato"/>
              </a:rPr>
              <a:t>Familiarity with data preprocessing and feature engineering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49000"/>
              </a:lnSpc>
              <a:buClr>
                <a:srgbClr val="595959"/>
              </a:buClr>
              <a:buFont typeface="Lato"/>
              <a:buChar char="●"/>
            </a:pPr>
            <a:r>
              <a:rPr b="0" lang="en-US" sz="1500" spc="-1" strike="noStrike">
                <a:solidFill>
                  <a:schemeClr val="accent1"/>
                </a:solidFill>
                <a:latin typeface="Lato"/>
                <a:ea typeface="Lato"/>
              </a:rPr>
              <a:t>Basic understanding of software development principles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49000"/>
              </a:lnSpc>
              <a:buClr>
                <a:srgbClr val="595959"/>
              </a:buClr>
              <a:buFont typeface="Lato"/>
              <a:buChar char="●"/>
            </a:pPr>
            <a:r>
              <a:rPr b="0" lang="en-US" sz="1500" spc="-1" strike="noStrike">
                <a:solidFill>
                  <a:schemeClr val="accent1"/>
                </a:solidFill>
                <a:latin typeface="Lato"/>
                <a:ea typeface="Lato"/>
              </a:rPr>
              <a:t>Ability to use third-party libraries to build tools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49000"/>
              </a:lnSpc>
              <a:buClr>
                <a:srgbClr val="595959"/>
              </a:buClr>
              <a:buFont typeface="Lato"/>
              <a:buChar char="●"/>
            </a:pPr>
            <a:r>
              <a:rPr b="1" lang="en-US" sz="1500" spc="-1" strike="noStrike">
                <a:solidFill>
                  <a:schemeClr val="accent1"/>
                </a:solidFill>
                <a:latin typeface="Lato"/>
                <a:ea typeface="Lato"/>
              </a:rPr>
              <a:t>And of course, discipline and commitment to this new skill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7687800" cy="53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2"/>
                </a:solidFill>
                <a:latin typeface="Raleway"/>
                <a:ea typeface="Raleway"/>
              </a:rPr>
              <a:t>The Process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371600"/>
            <a:ext cx="8457480" cy="319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1104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n-US" sz="1600" spc="-1" strike="noStrike">
                <a:solidFill>
                  <a:schemeClr val="accent1"/>
                </a:solidFill>
                <a:latin typeface="Lato"/>
                <a:ea typeface="Lato"/>
              </a:rPr>
              <a:t>We will meet every week during the Wednesday F &amp; R slots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n-US" sz="1600" spc="-1" strike="noStrike">
                <a:solidFill>
                  <a:schemeClr val="accent1"/>
                </a:solidFill>
                <a:latin typeface="Lato"/>
                <a:ea typeface="Lato"/>
              </a:rPr>
              <a:t>There will be weekly lectures to introduce the practical aspects of data pipelining, source control, experiment tracking, monitoring, visualization, packaging and deployment of models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n-US" sz="1600" spc="-1" strike="noStrike">
                <a:solidFill>
                  <a:schemeClr val="accent1"/>
                </a:solidFill>
                <a:latin typeface="Lato"/>
                <a:ea typeface="Lato"/>
              </a:rPr>
              <a:t>There will be 8 assignments spread across the semester (60%)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n-US" sz="1600" spc="-1" strike="noStrike">
                <a:solidFill>
                  <a:schemeClr val="accent1"/>
                </a:solidFill>
                <a:latin typeface="Lato"/>
                <a:ea typeface="Lato"/>
              </a:rPr>
              <a:t>Each assignments will be given ~10 days for completion and submission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n-US" sz="1600" spc="-1" strike="noStrike">
                <a:solidFill>
                  <a:schemeClr val="accent1"/>
                </a:solidFill>
                <a:latin typeface="Lato"/>
                <a:ea typeface="Lato"/>
              </a:rPr>
              <a:t>There will be an end-to-end AI application implementation exercise where we will follow MLOps guidelines to design, implement &amp; deploy for UAT (25%)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n-US" sz="1600" spc="-1" strike="noStrike">
                <a:solidFill>
                  <a:schemeClr val="accent1"/>
                </a:solidFill>
                <a:latin typeface="Lato"/>
                <a:ea typeface="Lato"/>
              </a:rPr>
              <a:t>Continuous Assessment through a short quiz in every lecture (15%)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" dur="indefinite" restart="never" nodeType="tmRoot">
          <p:childTnLst>
            <p:seq>
              <p:cTn id="36" dur="indefinite" nodeType="mainSeq"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768780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</a:rPr>
              <a:t>History shouldn’t repeat ...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371600"/>
            <a:ext cx="8457480" cy="342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lnSpc>
                <a:spcPct val="114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accent1"/>
                </a:solidFill>
                <a:latin typeface="Lato"/>
                <a:ea typeface="Lato"/>
              </a:rPr>
              <a:t>If you miss your quizzes during F &amp; R slots, there is no 2</a:t>
            </a:r>
            <a:r>
              <a:rPr b="0" lang="en-US" sz="2000" spc="-1" strike="noStrike" baseline="33000">
                <a:solidFill>
                  <a:schemeClr val="accent1"/>
                </a:solidFill>
                <a:latin typeface="Lato"/>
                <a:ea typeface="Lato"/>
              </a:rPr>
              <a:t>nd</a:t>
            </a:r>
            <a:r>
              <a:rPr b="0" lang="en-US" sz="2000" spc="-1" strike="noStrike">
                <a:solidFill>
                  <a:schemeClr val="accent1"/>
                </a:solidFill>
                <a:latin typeface="Lato"/>
                <a:ea typeface="Lato"/>
              </a:rPr>
              <a:t> chance irrespective of the reasons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14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accent1"/>
                </a:solidFill>
                <a:latin typeface="Lato"/>
                <a:ea typeface="Lato"/>
              </a:rPr>
              <a:t>Plagiarism will amount of penalty to all involved irrespective of who committed the crime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14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accent1"/>
                </a:solidFill>
                <a:latin typeface="Lato"/>
                <a:ea typeface="Lato"/>
              </a:rPr>
              <a:t>It is your responsibility to protect the privacy of your submissions until the deadline timestamp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14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accent1"/>
                </a:solidFill>
                <a:latin typeface="Lato"/>
                <a:ea typeface="Lato"/>
              </a:rPr>
              <a:t>It is your responsibility to make the submission visible and processable to the TAs at the time of evaluation.  Mistakes will not be tolerated.  You better be careful in your first attempt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14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accent1"/>
                </a:solidFill>
                <a:latin typeface="Lato"/>
                <a:ea typeface="Lato"/>
              </a:rPr>
              <a:t>Use of AI tools is allowed, however you will strictly adhere to AI usage instructions. There will be brownie points to students who try the experiments without AI tool usage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14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accent1"/>
                </a:solidFill>
                <a:latin typeface="Lato"/>
                <a:ea typeface="Lato"/>
              </a:rPr>
              <a:t>When you deprioritize DA5402,  only your attendance grade shall remain protected.  Your course grade is purely based on your objective performance.  For scenarios, when the submissions are delayed, a suitable penalty will be applied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14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accent1"/>
                </a:solidFill>
                <a:latin typeface="Lato"/>
                <a:ea typeface="Lato"/>
              </a:rPr>
              <a:t>The assignments will be challenging. So, the deadlines will not be extended for any reason, including academic workloads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14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accent1"/>
                </a:solidFill>
                <a:latin typeface="Lato"/>
                <a:ea typeface="Lato"/>
              </a:rPr>
              <a:t>The E2E AI project wil be given a month’s time.  No extension will be provided for the submission.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1" dur="indefinite" restart="never" nodeType="tmRoot">
          <p:childTnLst>
            <p:seq>
              <p:cTn id="62" dur="indefinite" nodeType="mainSeq"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7687800" cy="53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333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chemeClr val="dk2"/>
                </a:solidFill>
                <a:latin typeface="Raleway"/>
                <a:ea typeface="Raleway"/>
              </a:rPr>
              <a:t>References</a:t>
            </a:r>
            <a:r>
              <a:rPr b="1" lang="en-US" sz="2600" spc="-1" strike="noStrike">
                <a:solidFill>
                  <a:schemeClr val="dk2"/>
                </a:solidFill>
                <a:latin typeface="Raleway"/>
                <a:ea typeface="Raleway"/>
              </a:rPr>
              <a:t>	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371600"/>
            <a:ext cx="8457480" cy="296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228600">
              <a:lnSpc>
                <a:spcPct val="137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1"/>
                </a:solidFill>
                <a:latin typeface="Lato"/>
                <a:ea typeface="Lato"/>
              </a:rPr>
              <a:t>1. Engineering MLOps – Emmanuel Raj – Packt publication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37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1"/>
                </a:solidFill>
                <a:latin typeface="Lato"/>
                <a:ea typeface="Lato"/>
              </a:rPr>
              <a:t>2. Introducing MLOps – Mark Traveil &amp; The Dataiku Team – O’Reilly publication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37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1"/>
                </a:solidFill>
                <a:latin typeface="Lato"/>
                <a:ea typeface="Lato"/>
              </a:rPr>
              <a:t>3. Practical MLOps – Noah Gift &amp; Alfredo Deza – O’Reilly publication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37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1"/>
                </a:solidFill>
                <a:latin typeface="Lato"/>
                <a:ea typeface="Lato"/>
              </a:rPr>
              <a:t>4. Designing Deep Learning Systems – Chi Wang, Donald Szeto – Manning publication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37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1"/>
                </a:solidFill>
                <a:latin typeface="Lato"/>
                <a:ea typeface="Lato"/>
              </a:rPr>
              <a:t>5. Designing Machine Learning Systems - Chip Huyen – O’Reilly publication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49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1"/>
                </a:solidFill>
                <a:latin typeface="Lato"/>
                <a:ea typeface="Lato"/>
              </a:rPr>
              <a:t>6. Machine Learning in Production – Suhas Pote – BPB publication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49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1"/>
                </a:solidFill>
                <a:latin typeface="Lato"/>
                <a:ea typeface="Lato"/>
              </a:rPr>
              <a:t>7. MLOps Engineering at Scale – Carl Osipov – Manning publication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49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accent1"/>
                </a:solidFill>
                <a:latin typeface="Lato"/>
                <a:ea typeface="Lato"/>
              </a:rPr>
              <a:t>8. Beginning MLOps with MLFlow – Sridhar Alla &amp; Suman Kalyan Adari – Apress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2026-01-21T10:56:41Z</dcterms:modified>
  <cp:revision>17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