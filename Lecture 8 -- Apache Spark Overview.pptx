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9144000"/>
  <p:notesSz cx="6858000" cy="9144000"/>
  <p:embeddedFontLst>
    <p:embeddedFont>
      <p:font typeface="Corbel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15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5CD00F1-E302-42B1-9B0A-E9772AAEFB78}">
  <a:tblStyle styleId="{C5CD00F1-E302-42B1-9B0A-E9772AAEFB78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1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Corbel-bold.fntdata"/><Relationship Id="rId27" Type="http://schemas.openxmlformats.org/officeDocument/2006/relationships/font" Target="fonts/Corbel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Corbel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Corbel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 out that Scala is a modern PL etc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Mention DryadLINQ (but we go beyond it with RDDs)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Point out that interactive use and iterative use go hand in hand because both require small tasks and dataset reuse</a:t>
            </a:r>
            <a:endParaRPr/>
          </a:p>
        </p:txBody>
      </p:sp>
      <p:sp>
        <p:nvSpPr>
          <p:cNvPr id="101" name="Google Shape;101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Acyclic</a:t>
            </a:r>
            <a:endParaRPr/>
          </a:p>
        </p:txBody>
      </p:sp>
      <p:sp>
        <p:nvSpPr>
          <p:cNvPr id="108" name="Google Shape;108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Also applies to Dryad, SQL, etc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Benefits: easy to do fault tolerance and </a:t>
            </a:r>
            <a:endParaRPr/>
          </a:p>
        </p:txBody>
      </p:sp>
      <p:sp>
        <p:nvSpPr>
          <p:cNvPr id="145" name="Google Shape;145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RDDs = first-class way to manipulate and persist intermediate datasets</a:t>
            </a:r>
            <a:endParaRPr/>
          </a:p>
        </p:txBody>
      </p:sp>
      <p:sp>
        <p:nvSpPr>
          <p:cNvPr id="190" name="Google Shape;190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You write a single program 🡪 similar to DryadLINQ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Distributed data sets with parallel operations on them are pretty standard; the new thing is that they can be reused across ops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Variables in the driver program can be used in parallel ops; accumulators useful for sending information back, cached vars are an optimization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Mention cached vars useful for some workloads that won’t be shown here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Mention it’s all designed to be easy to distribute in a fault-tolerant fashion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Key idea: add “variables” to the “functions” in functional programming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68" name="Google Shape;26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 that dataset is reused on each gradient computation</a:t>
            </a:r>
            <a:endParaRPr/>
          </a:p>
        </p:txBody>
      </p:sp>
      <p:sp>
        <p:nvSpPr>
          <p:cNvPr id="269" name="Google Shape;269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24" name="Google Shape;32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Key idea: add “variables” to the “functions” in functional programming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for a 29 GB dataset on 20 EC2 m1.xlarge machines (4 cores each)</a:t>
            </a:r>
            <a:endParaRPr/>
          </a:p>
        </p:txBody>
      </p:sp>
      <p:sp>
        <p:nvSpPr>
          <p:cNvPr id="332" name="Google Shape;332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Say it’s because these all do data-parallel operations</a:t>
            </a:r>
            <a:endParaRPr/>
          </a:p>
        </p:txBody>
      </p:sp>
      <p:sp>
        <p:nvSpPr>
          <p:cNvPr id="359" name="Google Shape;359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67" name="Google Shape;36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 a variant of Hadoop</a:t>
            </a:r>
            <a:endParaRPr/>
          </a:p>
        </p:txBody>
      </p:sp>
      <p:sp>
        <p:nvSpPr>
          <p:cNvPr id="368" name="Google Shape;368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85" name="Google Shape;38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 a modified version of Hadoop</a:t>
            </a:r>
            <a:endParaRPr/>
          </a:p>
        </p:txBody>
      </p:sp>
      <p:sp>
        <p:nvSpPr>
          <p:cNvPr id="386" name="Google Shape;386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8382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5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762000" y="2517775"/>
            <a:ext cx="6400800" cy="682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sz="2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457200" y="59805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457200" y="1951038"/>
            <a:ext cx="8229600" cy="4221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sz="2800"/>
            </a:lvl1pPr>
            <a:lvl2pPr indent="-3810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7" name="Google Shape;27;p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sz="2800"/>
            </a:lvl1pPr>
            <a:lvl2pPr indent="-3810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57200" y="1905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951038"/>
            <a:ext cx="8229600" cy="4221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/>
          <p:nvPr/>
        </p:nvSpPr>
        <p:spPr>
          <a:xfrm>
            <a:off x="0" y="-1588"/>
            <a:ext cx="9339263" cy="121920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5400" rotWithShape="0" dir="5400000" dist="23000">
              <a:srgbClr val="000000">
                <a:alpha val="1686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7"/>
          <p:cNvSpPr txBox="1"/>
          <p:nvPr>
            <p:ph type="ctrTitle"/>
          </p:nvPr>
        </p:nvSpPr>
        <p:spPr>
          <a:xfrm>
            <a:off x="685800" y="20574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5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subTitle"/>
          </p:nvPr>
        </p:nvSpPr>
        <p:spPr>
          <a:xfrm>
            <a:off x="762000" y="3736975"/>
            <a:ext cx="6400800" cy="682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sz="2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orbel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/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1" sz="24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sz="2400"/>
            </a:lvl1pPr>
            <a:lvl2pPr indent="-3556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6" name="Google Shape;56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1" sz="24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sz="2400"/>
            </a:lvl1pPr>
            <a:lvl2pPr indent="-3556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5334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5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/>
            </a:lvl1pPr>
            <a:lvl2pPr indent="-4064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»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1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sz="14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sz="14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951038"/>
            <a:ext cx="8229600" cy="4221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i="0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000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Merriweather Sans"/>
              <a:buChar char="»"/>
              <a:defRPr b="0" i="0" sz="27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ctrTitle"/>
          </p:nvPr>
        </p:nvSpPr>
        <p:spPr>
          <a:xfrm>
            <a:off x="533400" y="749042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/>
              <a:t>Spark</a:t>
            </a:r>
            <a:endParaRPr/>
          </a:p>
        </p:txBody>
      </p:sp>
      <p:sp>
        <p:nvSpPr>
          <p:cNvPr id="96" name="Google Shape;96;p15"/>
          <p:cNvSpPr txBox="1"/>
          <p:nvPr>
            <p:ph idx="1" type="subTitle"/>
          </p:nvPr>
        </p:nvSpPr>
        <p:spPr>
          <a:xfrm>
            <a:off x="536865" y="2425442"/>
            <a:ext cx="8191500" cy="682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3600"/>
              <a:buFont typeface="Corbel"/>
              <a:buNone/>
            </a:pPr>
            <a:r>
              <a:rPr lang="en-US" sz="3600">
                <a:solidFill>
                  <a:srgbClr val="3366FF"/>
                </a:solidFill>
              </a:rPr>
              <a:t>Fast, Interactive, Language-Integrated Cluster Computing</a:t>
            </a:r>
            <a:endParaRPr/>
          </a:p>
        </p:txBody>
      </p:sp>
      <p:sp>
        <p:nvSpPr>
          <p:cNvPr id="97" name="Google Shape;97;p15"/>
          <p:cNvSpPr txBox="1"/>
          <p:nvPr/>
        </p:nvSpPr>
        <p:spPr>
          <a:xfrm>
            <a:off x="521924" y="5791200"/>
            <a:ext cx="358954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www.spark-project.org </a:t>
            </a:r>
            <a:endParaRPr sz="2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457200" y="59805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Goals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457201" y="1951038"/>
            <a:ext cx="8229599" cy="4221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/>
              <a:t>Extend the MapReduce model to better support two common classes of analytics apps:</a:t>
            </a:r>
            <a:endParaRPr/>
          </a:p>
          <a:p>
            <a:pPr indent="-2286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»"/>
            </a:pPr>
            <a:r>
              <a:rPr b="1" lang="en-US" sz="3000"/>
              <a:t>Iterative</a:t>
            </a:r>
            <a:r>
              <a:rPr lang="en-US" sz="3000"/>
              <a:t> algorithms (machine learning, graphs)</a:t>
            </a:r>
            <a:endParaRPr/>
          </a:p>
          <a:p>
            <a:pPr indent="-2286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»"/>
            </a:pPr>
            <a:r>
              <a:rPr b="1" lang="en-US" sz="3000"/>
              <a:t>Interactive</a:t>
            </a:r>
            <a:r>
              <a:rPr lang="en-US" sz="3000"/>
              <a:t> data mining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/>
              <a:t>Enhance programmability:</a:t>
            </a:r>
            <a:endParaRPr/>
          </a:p>
          <a:p>
            <a:pPr indent="-2286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»"/>
            </a:pPr>
            <a:r>
              <a:rPr lang="en-US" sz="3000"/>
              <a:t>Integrate into Scala programming language</a:t>
            </a:r>
            <a:endParaRPr/>
          </a:p>
          <a:p>
            <a:pPr indent="-2286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»"/>
            </a:pPr>
            <a:r>
              <a:rPr lang="en-US" sz="3000"/>
              <a:t>Allow interactive use from Scala interpreter</a:t>
            </a:r>
            <a:endParaRPr sz="3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457200" y="59805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Motivation</a:t>
            </a:r>
            <a:endParaRPr/>
          </a:p>
        </p:txBody>
      </p:sp>
      <p:sp>
        <p:nvSpPr>
          <p:cNvPr id="111" name="Google Shape;111;p17"/>
          <p:cNvSpPr txBox="1"/>
          <p:nvPr/>
        </p:nvSpPr>
        <p:spPr>
          <a:xfrm>
            <a:off x="457200" y="1867084"/>
            <a:ext cx="8229600" cy="2263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Most current cluster programming models are based on </a:t>
            </a:r>
            <a:r>
              <a:rPr i="1"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acyclic data flow</a:t>
            </a: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from stable storage to stable storage</a:t>
            </a:r>
            <a:endParaRPr/>
          </a:p>
        </p:txBody>
      </p:sp>
      <p:grpSp>
        <p:nvGrpSpPr>
          <p:cNvPr id="112" name="Google Shape;112;p17"/>
          <p:cNvGrpSpPr/>
          <p:nvPr/>
        </p:nvGrpSpPr>
        <p:grpSpPr>
          <a:xfrm>
            <a:off x="1119260" y="3962400"/>
            <a:ext cx="7010399" cy="2409790"/>
            <a:chOff x="195109" y="1484921"/>
            <a:chExt cx="8663829" cy="3698990"/>
          </a:xfrm>
        </p:grpSpPr>
        <p:grpSp>
          <p:nvGrpSpPr>
            <p:cNvPr id="113" name="Google Shape;113;p17"/>
            <p:cNvGrpSpPr/>
            <p:nvPr/>
          </p:nvGrpSpPr>
          <p:grpSpPr>
            <a:xfrm>
              <a:off x="195109" y="1484921"/>
              <a:ext cx="8663829" cy="3698990"/>
              <a:chOff x="95767" y="2133596"/>
              <a:chExt cx="8881102" cy="4495804"/>
            </a:xfrm>
          </p:grpSpPr>
          <p:sp>
            <p:nvSpPr>
              <p:cNvPr id="114" name="Google Shape;114;p17"/>
              <p:cNvSpPr/>
              <p:nvPr/>
            </p:nvSpPr>
            <p:spPr>
              <a:xfrm rot="10800000">
                <a:off x="95767" y="2133596"/>
                <a:ext cx="1428233" cy="4495801"/>
              </a:xfrm>
              <a:prstGeom prst="foldedCorner">
                <a:avLst>
                  <a:gd fmla="val 16667" name="adj"/>
                </a:avLst>
              </a:prstGeom>
              <a:gradFill>
                <a:gsLst>
                  <a:gs pos="0">
                    <a:srgbClr val="DAFEA4"/>
                  </a:gs>
                  <a:gs pos="35000">
                    <a:srgbClr val="E3FEBF"/>
                  </a:gs>
                  <a:gs pos="100000">
                    <a:srgbClr val="F4FEE6"/>
                  </a:gs>
                </a:gsLst>
                <a:lin ang="16200000" scaled="0"/>
              </a:gradFill>
              <a:ln cap="flat" cmpd="sng" w="9525">
                <a:solidFill>
                  <a:srgbClr val="97B85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cxnSp>
            <p:nvCxnSpPr>
              <p:cNvPr id="115" name="Google Shape;115;p17"/>
              <p:cNvCxnSpPr>
                <a:stCxn id="116" idx="2"/>
                <a:endCxn id="117" idx="1"/>
              </p:cNvCxnSpPr>
              <p:nvPr/>
            </p:nvCxnSpPr>
            <p:spPr>
              <a:xfrm>
                <a:off x="1676400" y="2882900"/>
                <a:ext cx="609600" cy="99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116" name="Google Shape;116;p17"/>
              <p:cNvSpPr/>
              <p:nvPr/>
            </p:nvSpPr>
            <p:spPr>
              <a:xfrm>
                <a:off x="1524000" y="2133600"/>
                <a:ext cx="152400" cy="1498600"/>
              </a:xfrm>
              <a:prstGeom prst="rightBracket">
                <a:avLst>
                  <a:gd fmla="val 8333" name="adj"/>
                </a:avLst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118" name="Google Shape;118;p17"/>
              <p:cNvSpPr/>
              <p:nvPr/>
            </p:nvSpPr>
            <p:spPr>
              <a:xfrm>
                <a:off x="1524000" y="3632200"/>
                <a:ext cx="152400" cy="1498600"/>
              </a:xfrm>
              <a:prstGeom prst="rightBracket">
                <a:avLst>
                  <a:gd fmla="val 8333" name="adj"/>
                </a:avLst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119" name="Google Shape;119;p17"/>
              <p:cNvSpPr/>
              <p:nvPr/>
            </p:nvSpPr>
            <p:spPr>
              <a:xfrm>
                <a:off x="1524000" y="5130800"/>
                <a:ext cx="152400" cy="1498600"/>
              </a:xfrm>
              <a:prstGeom prst="rightBracket">
                <a:avLst>
                  <a:gd fmla="val 8333" name="adj"/>
                </a:avLst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cxnSp>
            <p:nvCxnSpPr>
              <p:cNvPr id="120" name="Google Shape;120;p17"/>
              <p:cNvCxnSpPr>
                <a:stCxn id="118" idx="2"/>
                <a:endCxn id="121" idx="1"/>
              </p:cNvCxnSpPr>
              <p:nvPr/>
            </p:nvCxnSpPr>
            <p:spPr>
              <a:xfrm>
                <a:off x="1676400" y="4381500"/>
                <a:ext cx="609600" cy="13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117" name="Google Shape;117;p17"/>
              <p:cNvSpPr/>
              <p:nvPr/>
            </p:nvSpPr>
            <p:spPr>
              <a:xfrm>
                <a:off x="2286000" y="2520141"/>
                <a:ext cx="1218523" cy="745398"/>
              </a:xfrm>
              <a:prstGeom prst="roundRect">
                <a:avLst>
                  <a:gd fmla="val 16667" name="adj"/>
                </a:avLst>
              </a:prstGeom>
              <a:gradFill>
                <a:gsLst>
                  <a:gs pos="0">
                    <a:srgbClr val="3E7FCD"/>
                  </a:gs>
                  <a:gs pos="100000">
                    <a:srgbClr val="96C0FF"/>
                  </a:gs>
                </a:gsLst>
                <a:lin ang="16200000" scaled="0"/>
              </a:gradFill>
              <a:ln cap="flat" cmpd="sng" w="9525">
                <a:solidFill>
                  <a:srgbClr val="4A7DBA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Corbel"/>
                  <a:buNone/>
                </a:pPr>
                <a:r>
                  <a:rPr b="0" i="0" lang="en-US" sz="2000" u="none" cap="none" strike="noStrike">
                    <a:solidFill>
                      <a:srgbClr val="FFFFFF"/>
                    </a:solidFill>
                    <a:latin typeface="Corbel"/>
                    <a:ea typeface="Corbel"/>
                    <a:cs typeface="Corbel"/>
                    <a:sym typeface="Corbel"/>
                  </a:rPr>
                  <a:t>Map</a:t>
                </a:r>
                <a:endParaRPr/>
              </a:p>
            </p:txBody>
          </p:sp>
          <p:sp>
            <p:nvSpPr>
              <p:cNvPr id="121" name="Google Shape;121;p17"/>
              <p:cNvSpPr/>
              <p:nvPr/>
            </p:nvSpPr>
            <p:spPr>
              <a:xfrm>
                <a:off x="2286000" y="4016250"/>
                <a:ext cx="1218523" cy="758384"/>
              </a:xfrm>
              <a:prstGeom prst="roundRect">
                <a:avLst>
                  <a:gd fmla="val 16667" name="adj"/>
                </a:avLst>
              </a:prstGeom>
              <a:gradFill>
                <a:gsLst>
                  <a:gs pos="0">
                    <a:srgbClr val="3E7FCD"/>
                  </a:gs>
                  <a:gs pos="100000">
                    <a:srgbClr val="96C0FF"/>
                  </a:gs>
                </a:gsLst>
                <a:lin ang="16200000" scaled="0"/>
              </a:gradFill>
              <a:ln cap="flat" cmpd="sng" w="9525">
                <a:solidFill>
                  <a:srgbClr val="4A7DBA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Corbel"/>
                  <a:buNone/>
                </a:pPr>
                <a:r>
                  <a:rPr b="0" i="0" lang="en-US" sz="2000" u="none" cap="none" strike="noStrike">
                    <a:solidFill>
                      <a:srgbClr val="FFFFFF"/>
                    </a:solidFill>
                    <a:latin typeface="Corbel"/>
                    <a:ea typeface="Corbel"/>
                    <a:cs typeface="Corbel"/>
                    <a:sym typeface="Corbel"/>
                  </a:rPr>
                  <a:t>Map</a:t>
                </a:r>
                <a:endParaRPr/>
              </a:p>
            </p:txBody>
          </p:sp>
          <p:sp>
            <p:nvSpPr>
              <p:cNvPr id="122" name="Google Shape;122;p17"/>
              <p:cNvSpPr/>
              <p:nvPr/>
            </p:nvSpPr>
            <p:spPr>
              <a:xfrm>
                <a:off x="2286000" y="5518377"/>
                <a:ext cx="1218523" cy="747994"/>
              </a:xfrm>
              <a:prstGeom prst="roundRect">
                <a:avLst>
                  <a:gd fmla="val 16667" name="adj"/>
                </a:avLst>
              </a:prstGeom>
              <a:gradFill>
                <a:gsLst>
                  <a:gs pos="0">
                    <a:srgbClr val="3E7FCD"/>
                  </a:gs>
                  <a:gs pos="100000">
                    <a:srgbClr val="96C0FF"/>
                  </a:gs>
                </a:gsLst>
                <a:lin ang="16200000" scaled="0"/>
              </a:gradFill>
              <a:ln cap="flat" cmpd="sng" w="9525">
                <a:solidFill>
                  <a:srgbClr val="4A7DBA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Corbel"/>
                  <a:buNone/>
                </a:pPr>
                <a:r>
                  <a:rPr b="0" i="0" lang="en-US" sz="2000" u="none" cap="none" strike="noStrike">
                    <a:solidFill>
                      <a:srgbClr val="FFFFFF"/>
                    </a:solidFill>
                    <a:latin typeface="Corbel"/>
                    <a:ea typeface="Corbel"/>
                    <a:cs typeface="Corbel"/>
                    <a:sym typeface="Corbel"/>
                  </a:rPr>
                  <a:t>Map</a:t>
                </a:r>
                <a:endParaRPr/>
              </a:p>
            </p:txBody>
          </p:sp>
          <p:cxnSp>
            <p:nvCxnSpPr>
              <p:cNvPr id="123" name="Google Shape;123;p17"/>
              <p:cNvCxnSpPr>
                <a:stCxn id="119" idx="2"/>
                <a:endCxn id="122" idx="1"/>
              </p:cNvCxnSpPr>
              <p:nvPr/>
            </p:nvCxnSpPr>
            <p:spPr>
              <a:xfrm>
                <a:off x="1676400" y="5880100"/>
                <a:ext cx="609600" cy="123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124" name="Google Shape;124;p17"/>
              <p:cNvSpPr/>
              <p:nvPr/>
            </p:nvSpPr>
            <p:spPr>
              <a:xfrm>
                <a:off x="5519622" y="2836761"/>
                <a:ext cx="1363025" cy="793198"/>
              </a:xfrm>
              <a:prstGeom prst="roundRect">
                <a:avLst>
                  <a:gd fmla="val 16667" name="adj"/>
                </a:avLst>
              </a:prstGeom>
              <a:gradFill>
                <a:gsLst>
                  <a:gs pos="0">
                    <a:srgbClr val="D13F3B"/>
                  </a:gs>
                  <a:gs pos="100000">
                    <a:srgbClr val="FF9995"/>
                  </a:gs>
                </a:gsLst>
                <a:lin ang="16200000" scaled="0"/>
              </a:gradFill>
              <a:ln cap="flat" cmpd="sng" w="9525">
                <a:solidFill>
                  <a:srgbClr val="BD4B48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000"/>
                  <a:buFont typeface="Corbel"/>
                  <a:buNone/>
                </a:pPr>
                <a:r>
                  <a:rPr b="0" i="0" lang="en-US" sz="20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rPr>
                  <a:t>Reduce</a:t>
                </a:r>
                <a:endParaRPr/>
              </a:p>
            </p:txBody>
          </p:sp>
          <p:sp>
            <p:nvSpPr>
              <p:cNvPr id="125" name="Google Shape;125;p17"/>
              <p:cNvSpPr/>
              <p:nvPr/>
            </p:nvSpPr>
            <p:spPr>
              <a:xfrm>
                <a:off x="5519622" y="5110723"/>
                <a:ext cx="1363025" cy="751943"/>
              </a:xfrm>
              <a:prstGeom prst="roundRect">
                <a:avLst>
                  <a:gd fmla="val 16667" name="adj"/>
                </a:avLst>
              </a:prstGeom>
              <a:gradFill>
                <a:gsLst>
                  <a:gs pos="0">
                    <a:srgbClr val="D13F3B"/>
                  </a:gs>
                  <a:gs pos="100000">
                    <a:srgbClr val="FF9995"/>
                  </a:gs>
                </a:gsLst>
                <a:lin ang="16200000" scaled="0"/>
              </a:gradFill>
              <a:ln cap="flat" cmpd="sng" w="9525">
                <a:solidFill>
                  <a:srgbClr val="BD4B48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000"/>
                  <a:buFont typeface="Corbel"/>
                  <a:buNone/>
                </a:pPr>
                <a:r>
                  <a:rPr b="0" i="0" lang="en-US" sz="20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rPr>
                  <a:t>Reduce</a:t>
                </a:r>
                <a:endParaRPr/>
              </a:p>
            </p:txBody>
          </p:sp>
          <p:cxnSp>
            <p:nvCxnSpPr>
              <p:cNvPr id="126" name="Google Shape;126;p17"/>
              <p:cNvCxnSpPr>
                <a:stCxn id="117" idx="3"/>
              </p:cNvCxnSpPr>
              <p:nvPr/>
            </p:nvCxnSpPr>
            <p:spPr>
              <a:xfrm>
                <a:off x="3504523" y="2892840"/>
                <a:ext cx="2015100" cy="239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27" name="Google Shape;127;p17"/>
              <p:cNvCxnSpPr>
                <a:stCxn id="117" idx="3"/>
              </p:cNvCxnSpPr>
              <p:nvPr/>
            </p:nvCxnSpPr>
            <p:spPr>
              <a:xfrm>
                <a:off x="3504523" y="2892840"/>
                <a:ext cx="2015100" cy="24519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28" name="Google Shape;128;p17"/>
              <p:cNvCxnSpPr>
                <a:stCxn id="122" idx="3"/>
              </p:cNvCxnSpPr>
              <p:nvPr/>
            </p:nvCxnSpPr>
            <p:spPr>
              <a:xfrm flipH="1" rot="10800000">
                <a:off x="3504523" y="3346874"/>
                <a:ext cx="2015100" cy="2545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29" name="Google Shape;129;p17"/>
              <p:cNvCxnSpPr>
                <a:stCxn id="121" idx="3"/>
                <a:endCxn id="125" idx="1"/>
              </p:cNvCxnSpPr>
              <p:nvPr/>
            </p:nvCxnSpPr>
            <p:spPr>
              <a:xfrm>
                <a:off x="3504523" y="4395442"/>
                <a:ext cx="2015100" cy="1091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30" name="Google Shape;130;p17"/>
              <p:cNvCxnSpPr>
                <a:stCxn id="121" idx="3"/>
                <a:endCxn id="124" idx="1"/>
              </p:cNvCxnSpPr>
              <p:nvPr/>
            </p:nvCxnSpPr>
            <p:spPr>
              <a:xfrm flipH="1" rot="10800000">
                <a:off x="3504523" y="3233242"/>
                <a:ext cx="2015100" cy="11622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31" name="Google Shape;131;p17"/>
              <p:cNvCxnSpPr>
                <a:stCxn id="122" idx="3"/>
              </p:cNvCxnSpPr>
              <p:nvPr/>
            </p:nvCxnSpPr>
            <p:spPr>
              <a:xfrm flipH="1" rot="10800000">
                <a:off x="3504523" y="5630474"/>
                <a:ext cx="2015100" cy="2619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32" name="Google Shape;132;p17"/>
              <p:cNvCxnSpPr>
                <a:stCxn id="124" idx="3"/>
                <a:endCxn id="133" idx="2"/>
              </p:cNvCxnSpPr>
              <p:nvPr/>
            </p:nvCxnSpPr>
            <p:spPr>
              <a:xfrm>
                <a:off x="6882647" y="3233360"/>
                <a:ext cx="508800" cy="66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34" name="Google Shape;134;p17"/>
              <p:cNvCxnSpPr>
                <a:stCxn id="125" idx="3"/>
                <a:endCxn id="135" idx="2"/>
              </p:cNvCxnSpPr>
              <p:nvPr/>
            </p:nvCxnSpPr>
            <p:spPr>
              <a:xfrm>
                <a:off x="6882647" y="5486695"/>
                <a:ext cx="508800" cy="12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136" name="Google Shape;136;p17"/>
              <p:cNvSpPr/>
              <p:nvPr/>
            </p:nvSpPr>
            <p:spPr>
              <a:xfrm rot="10800000">
                <a:off x="7543798" y="2133596"/>
                <a:ext cx="1433071" cy="4495800"/>
              </a:xfrm>
              <a:prstGeom prst="foldedCorner">
                <a:avLst>
                  <a:gd fmla="val 16667" name="adj"/>
                </a:avLst>
              </a:prstGeom>
              <a:gradFill>
                <a:gsLst>
                  <a:gs pos="0">
                    <a:srgbClr val="DAFEA4"/>
                  </a:gs>
                  <a:gs pos="35000">
                    <a:srgbClr val="E3FEBF"/>
                  </a:gs>
                  <a:gs pos="100000">
                    <a:srgbClr val="F4FEE6"/>
                  </a:gs>
                </a:gsLst>
                <a:lin ang="16200000" scaled="0"/>
              </a:gradFill>
              <a:ln cap="flat" cmpd="sng" w="9525">
                <a:solidFill>
                  <a:srgbClr val="97B85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133" name="Google Shape;133;p17"/>
              <p:cNvSpPr/>
              <p:nvPr/>
            </p:nvSpPr>
            <p:spPr>
              <a:xfrm flipH="1">
                <a:off x="7391400" y="2133600"/>
                <a:ext cx="152400" cy="2212585"/>
              </a:xfrm>
              <a:prstGeom prst="rightBracket">
                <a:avLst>
                  <a:gd fmla="val 8333" name="adj"/>
                </a:avLst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135" name="Google Shape;135;p17"/>
              <p:cNvSpPr/>
              <p:nvPr/>
            </p:nvSpPr>
            <p:spPr>
              <a:xfrm flipH="1">
                <a:off x="7391400" y="4346185"/>
                <a:ext cx="152400" cy="2283215"/>
              </a:xfrm>
              <a:prstGeom prst="rightBracket">
                <a:avLst>
                  <a:gd fmla="val 8333" name="adj"/>
                </a:avLst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37" name="Google Shape;137;p17"/>
            <p:cNvGrpSpPr/>
            <p:nvPr/>
          </p:nvGrpSpPr>
          <p:grpSpPr>
            <a:xfrm>
              <a:off x="195109" y="3005909"/>
              <a:ext cx="8663829" cy="643663"/>
              <a:chOff x="285669" y="3684835"/>
              <a:chExt cx="8636670" cy="643663"/>
            </a:xfrm>
          </p:grpSpPr>
          <p:sp>
            <p:nvSpPr>
              <p:cNvPr id="138" name="Google Shape;138;p17"/>
              <p:cNvSpPr txBox="1"/>
              <p:nvPr/>
            </p:nvSpPr>
            <p:spPr>
              <a:xfrm>
                <a:off x="285669" y="3684836"/>
                <a:ext cx="1388924" cy="643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200"/>
                  <a:buFont typeface="Corbel"/>
                  <a:buNone/>
                </a:pPr>
                <a:r>
                  <a:rPr b="0" i="0" lang="en-US" sz="2200" u="none" cap="none" strike="noStrike">
                    <a:solidFill>
                      <a:srgbClr val="000000"/>
                    </a:solidFill>
                    <a:latin typeface="Corbel"/>
                    <a:ea typeface="Corbel"/>
                    <a:cs typeface="Corbel"/>
                    <a:sym typeface="Corbel"/>
                  </a:rPr>
                  <a:t>Input</a:t>
                </a:r>
                <a:endParaRPr/>
              </a:p>
            </p:txBody>
          </p:sp>
          <p:sp>
            <p:nvSpPr>
              <p:cNvPr id="139" name="Google Shape;139;p17"/>
              <p:cNvSpPr txBox="1"/>
              <p:nvPr/>
            </p:nvSpPr>
            <p:spPr>
              <a:xfrm>
                <a:off x="7539236" y="3684835"/>
                <a:ext cx="1383103" cy="643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200"/>
                  <a:buFont typeface="Corbel"/>
                  <a:buNone/>
                </a:pPr>
                <a:r>
                  <a:rPr b="0" i="0" lang="en-US" sz="2200" u="none" cap="none" strike="noStrike">
                    <a:solidFill>
                      <a:srgbClr val="000000"/>
                    </a:solidFill>
                    <a:latin typeface="Corbel"/>
                    <a:ea typeface="Corbel"/>
                    <a:cs typeface="Corbel"/>
                    <a:sym typeface="Corbel"/>
                  </a:rPr>
                  <a:t>Output</a:t>
                </a:r>
                <a:endParaRPr/>
              </a:p>
            </p:txBody>
          </p:sp>
        </p:grpSp>
      </p:grpSp>
      <p:sp>
        <p:nvSpPr>
          <p:cNvPr id="140" name="Google Shape;140;p17"/>
          <p:cNvSpPr/>
          <p:nvPr/>
        </p:nvSpPr>
        <p:spPr>
          <a:xfrm>
            <a:off x="7648721" y="5764322"/>
            <a:ext cx="564024" cy="537089"/>
          </a:xfrm>
          <a:prstGeom prst="can">
            <a:avLst>
              <a:gd fmla="val 25000" name="adj"/>
            </a:avLst>
          </a:prstGeom>
          <a:gradFill>
            <a:gsLst>
              <a:gs pos="0">
                <a:srgbClr val="A0C94A"/>
              </a:gs>
              <a:gs pos="100000">
                <a:srgbClr val="DBFF9C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1741978" y="5758087"/>
            <a:ext cx="564024" cy="537089"/>
          </a:xfrm>
          <a:prstGeom prst="can">
            <a:avLst>
              <a:gd fmla="val 25000" name="adj"/>
            </a:avLst>
          </a:prstGeom>
          <a:gradFill>
            <a:gsLst>
              <a:gs pos="0">
                <a:srgbClr val="A0C94A"/>
              </a:gs>
              <a:gs pos="100000">
                <a:srgbClr val="DBFF9C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>
            <p:ph type="title"/>
          </p:nvPr>
        </p:nvSpPr>
        <p:spPr>
          <a:xfrm>
            <a:off x="457200" y="59805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Motivation</a:t>
            </a:r>
            <a:endParaRPr/>
          </a:p>
        </p:txBody>
      </p:sp>
      <p:grpSp>
        <p:nvGrpSpPr>
          <p:cNvPr id="148" name="Google Shape;148;p18"/>
          <p:cNvGrpSpPr/>
          <p:nvPr/>
        </p:nvGrpSpPr>
        <p:grpSpPr>
          <a:xfrm>
            <a:off x="1119260" y="3959698"/>
            <a:ext cx="7010399" cy="2409790"/>
            <a:chOff x="195109" y="1484921"/>
            <a:chExt cx="8663829" cy="3698990"/>
          </a:xfrm>
        </p:grpSpPr>
        <p:grpSp>
          <p:nvGrpSpPr>
            <p:cNvPr id="149" name="Google Shape;149;p18"/>
            <p:cNvGrpSpPr/>
            <p:nvPr/>
          </p:nvGrpSpPr>
          <p:grpSpPr>
            <a:xfrm>
              <a:off x="195109" y="1484921"/>
              <a:ext cx="8663829" cy="3698990"/>
              <a:chOff x="95767" y="2133596"/>
              <a:chExt cx="8881102" cy="4495804"/>
            </a:xfrm>
          </p:grpSpPr>
          <p:sp>
            <p:nvSpPr>
              <p:cNvPr id="150" name="Google Shape;150;p18"/>
              <p:cNvSpPr/>
              <p:nvPr/>
            </p:nvSpPr>
            <p:spPr>
              <a:xfrm rot="10800000">
                <a:off x="95767" y="2133596"/>
                <a:ext cx="1428233" cy="4495801"/>
              </a:xfrm>
              <a:prstGeom prst="foldedCorner">
                <a:avLst>
                  <a:gd fmla="val 16667" name="adj"/>
                </a:avLst>
              </a:prstGeom>
              <a:gradFill>
                <a:gsLst>
                  <a:gs pos="0">
                    <a:srgbClr val="DAFEA4"/>
                  </a:gs>
                  <a:gs pos="35000">
                    <a:srgbClr val="E3FEBF"/>
                  </a:gs>
                  <a:gs pos="100000">
                    <a:srgbClr val="F4FEE6"/>
                  </a:gs>
                </a:gsLst>
                <a:lin ang="16200000" scaled="0"/>
              </a:gradFill>
              <a:ln cap="flat" cmpd="sng" w="9525">
                <a:solidFill>
                  <a:srgbClr val="97B85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cxnSp>
            <p:nvCxnSpPr>
              <p:cNvPr id="151" name="Google Shape;151;p18"/>
              <p:cNvCxnSpPr>
                <a:stCxn id="152" idx="2"/>
                <a:endCxn id="153" idx="1"/>
              </p:cNvCxnSpPr>
              <p:nvPr/>
            </p:nvCxnSpPr>
            <p:spPr>
              <a:xfrm>
                <a:off x="1676400" y="2882900"/>
                <a:ext cx="609600" cy="99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152" name="Google Shape;152;p18"/>
              <p:cNvSpPr/>
              <p:nvPr/>
            </p:nvSpPr>
            <p:spPr>
              <a:xfrm>
                <a:off x="1524000" y="2133600"/>
                <a:ext cx="152400" cy="1498600"/>
              </a:xfrm>
              <a:prstGeom prst="rightBracket">
                <a:avLst>
                  <a:gd fmla="val 8333" name="adj"/>
                </a:avLst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154" name="Google Shape;154;p18"/>
              <p:cNvSpPr/>
              <p:nvPr/>
            </p:nvSpPr>
            <p:spPr>
              <a:xfrm>
                <a:off x="1524000" y="3632200"/>
                <a:ext cx="152400" cy="1498600"/>
              </a:xfrm>
              <a:prstGeom prst="rightBracket">
                <a:avLst>
                  <a:gd fmla="val 8333" name="adj"/>
                </a:avLst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155" name="Google Shape;155;p18"/>
              <p:cNvSpPr/>
              <p:nvPr/>
            </p:nvSpPr>
            <p:spPr>
              <a:xfrm>
                <a:off x="1524000" y="5130800"/>
                <a:ext cx="152400" cy="1498600"/>
              </a:xfrm>
              <a:prstGeom prst="rightBracket">
                <a:avLst>
                  <a:gd fmla="val 8333" name="adj"/>
                </a:avLst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cxnSp>
            <p:nvCxnSpPr>
              <p:cNvPr id="156" name="Google Shape;156;p18"/>
              <p:cNvCxnSpPr>
                <a:stCxn id="154" idx="2"/>
                <a:endCxn id="157" idx="1"/>
              </p:cNvCxnSpPr>
              <p:nvPr/>
            </p:nvCxnSpPr>
            <p:spPr>
              <a:xfrm>
                <a:off x="1676400" y="4381500"/>
                <a:ext cx="609600" cy="13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153" name="Google Shape;153;p18"/>
              <p:cNvSpPr/>
              <p:nvPr/>
            </p:nvSpPr>
            <p:spPr>
              <a:xfrm>
                <a:off x="2286000" y="2520141"/>
                <a:ext cx="1218523" cy="745398"/>
              </a:xfrm>
              <a:prstGeom prst="roundRect">
                <a:avLst>
                  <a:gd fmla="val 16667" name="adj"/>
                </a:avLst>
              </a:prstGeom>
              <a:gradFill>
                <a:gsLst>
                  <a:gs pos="0">
                    <a:srgbClr val="3E7FCD"/>
                  </a:gs>
                  <a:gs pos="100000">
                    <a:srgbClr val="96C0FF"/>
                  </a:gs>
                </a:gsLst>
                <a:lin ang="16200000" scaled="0"/>
              </a:gradFill>
              <a:ln cap="flat" cmpd="sng" w="9525">
                <a:solidFill>
                  <a:srgbClr val="4A7DBA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Corbel"/>
                  <a:buNone/>
                </a:pPr>
                <a:r>
                  <a:rPr b="0" i="0" lang="en-US" sz="2000" u="none" cap="none" strike="noStrike">
                    <a:solidFill>
                      <a:srgbClr val="FFFFFF"/>
                    </a:solidFill>
                    <a:latin typeface="Corbel"/>
                    <a:ea typeface="Corbel"/>
                    <a:cs typeface="Corbel"/>
                    <a:sym typeface="Corbel"/>
                  </a:rPr>
                  <a:t>Map</a:t>
                </a:r>
                <a:endParaRPr/>
              </a:p>
            </p:txBody>
          </p:sp>
          <p:sp>
            <p:nvSpPr>
              <p:cNvPr id="157" name="Google Shape;157;p18"/>
              <p:cNvSpPr/>
              <p:nvPr/>
            </p:nvSpPr>
            <p:spPr>
              <a:xfrm>
                <a:off x="2286000" y="4016250"/>
                <a:ext cx="1218523" cy="758384"/>
              </a:xfrm>
              <a:prstGeom prst="roundRect">
                <a:avLst>
                  <a:gd fmla="val 16667" name="adj"/>
                </a:avLst>
              </a:prstGeom>
              <a:gradFill>
                <a:gsLst>
                  <a:gs pos="0">
                    <a:srgbClr val="3E7FCD"/>
                  </a:gs>
                  <a:gs pos="100000">
                    <a:srgbClr val="96C0FF"/>
                  </a:gs>
                </a:gsLst>
                <a:lin ang="16200000" scaled="0"/>
              </a:gradFill>
              <a:ln cap="flat" cmpd="sng" w="9525">
                <a:solidFill>
                  <a:srgbClr val="4A7DBA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Corbel"/>
                  <a:buNone/>
                </a:pPr>
                <a:r>
                  <a:rPr b="0" i="0" lang="en-US" sz="2000" u="none" cap="none" strike="noStrike">
                    <a:solidFill>
                      <a:srgbClr val="FFFFFF"/>
                    </a:solidFill>
                    <a:latin typeface="Corbel"/>
                    <a:ea typeface="Corbel"/>
                    <a:cs typeface="Corbel"/>
                    <a:sym typeface="Corbel"/>
                  </a:rPr>
                  <a:t>Map</a:t>
                </a:r>
                <a:endParaRPr/>
              </a:p>
            </p:txBody>
          </p:sp>
          <p:sp>
            <p:nvSpPr>
              <p:cNvPr id="158" name="Google Shape;158;p18"/>
              <p:cNvSpPr/>
              <p:nvPr/>
            </p:nvSpPr>
            <p:spPr>
              <a:xfrm>
                <a:off x="2286000" y="5518377"/>
                <a:ext cx="1218523" cy="747994"/>
              </a:xfrm>
              <a:prstGeom prst="roundRect">
                <a:avLst>
                  <a:gd fmla="val 16667" name="adj"/>
                </a:avLst>
              </a:prstGeom>
              <a:gradFill>
                <a:gsLst>
                  <a:gs pos="0">
                    <a:srgbClr val="3E7FCD"/>
                  </a:gs>
                  <a:gs pos="100000">
                    <a:srgbClr val="96C0FF"/>
                  </a:gs>
                </a:gsLst>
                <a:lin ang="16200000" scaled="0"/>
              </a:gradFill>
              <a:ln cap="flat" cmpd="sng" w="9525">
                <a:solidFill>
                  <a:srgbClr val="4A7DBA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Corbel"/>
                  <a:buNone/>
                </a:pPr>
                <a:r>
                  <a:rPr b="0" i="0" lang="en-US" sz="2000" u="none" cap="none" strike="noStrike">
                    <a:solidFill>
                      <a:srgbClr val="FFFFFF"/>
                    </a:solidFill>
                    <a:latin typeface="Corbel"/>
                    <a:ea typeface="Corbel"/>
                    <a:cs typeface="Corbel"/>
                    <a:sym typeface="Corbel"/>
                  </a:rPr>
                  <a:t>Map</a:t>
                </a:r>
                <a:endParaRPr/>
              </a:p>
            </p:txBody>
          </p:sp>
          <p:cxnSp>
            <p:nvCxnSpPr>
              <p:cNvPr id="159" name="Google Shape;159;p18"/>
              <p:cNvCxnSpPr>
                <a:stCxn id="155" idx="2"/>
                <a:endCxn id="158" idx="1"/>
              </p:cNvCxnSpPr>
              <p:nvPr/>
            </p:nvCxnSpPr>
            <p:spPr>
              <a:xfrm>
                <a:off x="1676400" y="5880100"/>
                <a:ext cx="609600" cy="123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160" name="Google Shape;160;p18"/>
              <p:cNvSpPr/>
              <p:nvPr/>
            </p:nvSpPr>
            <p:spPr>
              <a:xfrm>
                <a:off x="5519622" y="2836761"/>
                <a:ext cx="1363025" cy="793198"/>
              </a:xfrm>
              <a:prstGeom prst="roundRect">
                <a:avLst>
                  <a:gd fmla="val 16667" name="adj"/>
                </a:avLst>
              </a:prstGeom>
              <a:gradFill>
                <a:gsLst>
                  <a:gs pos="0">
                    <a:srgbClr val="D13F3B"/>
                  </a:gs>
                  <a:gs pos="100000">
                    <a:srgbClr val="FF9995"/>
                  </a:gs>
                </a:gsLst>
                <a:lin ang="16200000" scaled="0"/>
              </a:gradFill>
              <a:ln cap="flat" cmpd="sng" w="9525">
                <a:solidFill>
                  <a:srgbClr val="BD4B48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000"/>
                  <a:buFont typeface="Corbel"/>
                  <a:buNone/>
                </a:pPr>
                <a:r>
                  <a:rPr b="0" i="0" lang="en-US" sz="20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rPr>
                  <a:t>Reduce</a:t>
                </a:r>
                <a:endParaRPr/>
              </a:p>
            </p:txBody>
          </p:sp>
          <p:sp>
            <p:nvSpPr>
              <p:cNvPr id="161" name="Google Shape;161;p18"/>
              <p:cNvSpPr/>
              <p:nvPr/>
            </p:nvSpPr>
            <p:spPr>
              <a:xfrm>
                <a:off x="5519622" y="5118091"/>
                <a:ext cx="1363025" cy="731788"/>
              </a:xfrm>
              <a:prstGeom prst="roundRect">
                <a:avLst>
                  <a:gd fmla="val 16667" name="adj"/>
                </a:avLst>
              </a:prstGeom>
              <a:gradFill>
                <a:gsLst>
                  <a:gs pos="0">
                    <a:srgbClr val="D13F3B"/>
                  </a:gs>
                  <a:gs pos="100000">
                    <a:srgbClr val="FF9995"/>
                  </a:gs>
                </a:gsLst>
                <a:lin ang="16200000" scaled="0"/>
              </a:gradFill>
              <a:ln cap="flat" cmpd="sng" w="9525">
                <a:solidFill>
                  <a:srgbClr val="BD4B48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000"/>
                  <a:buFont typeface="Corbel"/>
                  <a:buNone/>
                </a:pPr>
                <a:r>
                  <a:rPr b="0" i="0" lang="en-US" sz="20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rPr>
                  <a:t>Reduce</a:t>
                </a:r>
                <a:endParaRPr/>
              </a:p>
            </p:txBody>
          </p:sp>
          <p:cxnSp>
            <p:nvCxnSpPr>
              <p:cNvPr id="162" name="Google Shape;162;p18"/>
              <p:cNvCxnSpPr>
                <a:stCxn id="153" idx="3"/>
              </p:cNvCxnSpPr>
              <p:nvPr/>
            </p:nvCxnSpPr>
            <p:spPr>
              <a:xfrm>
                <a:off x="3504523" y="2892840"/>
                <a:ext cx="2015100" cy="239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63" name="Google Shape;163;p18"/>
              <p:cNvCxnSpPr>
                <a:stCxn id="153" idx="3"/>
              </p:cNvCxnSpPr>
              <p:nvPr/>
            </p:nvCxnSpPr>
            <p:spPr>
              <a:xfrm>
                <a:off x="3504523" y="2892840"/>
                <a:ext cx="2015100" cy="24519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64" name="Google Shape;164;p18"/>
              <p:cNvCxnSpPr>
                <a:stCxn id="158" idx="3"/>
              </p:cNvCxnSpPr>
              <p:nvPr/>
            </p:nvCxnSpPr>
            <p:spPr>
              <a:xfrm flipH="1" rot="10800000">
                <a:off x="3504523" y="3346874"/>
                <a:ext cx="2015100" cy="2545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65" name="Google Shape;165;p18"/>
              <p:cNvCxnSpPr>
                <a:stCxn id="157" idx="3"/>
                <a:endCxn id="161" idx="1"/>
              </p:cNvCxnSpPr>
              <p:nvPr/>
            </p:nvCxnSpPr>
            <p:spPr>
              <a:xfrm>
                <a:off x="3504523" y="4395442"/>
                <a:ext cx="2015100" cy="1088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66" name="Google Shape;166;p18"/>
              <p:cNvCxnSpPr>
                <a:stCxn id="157" idx="3"/>
                <a:endCxn id="160" idx="1"/>
              </p:cNvCxnSpPr>
              <p:nvPr/>
            </p:nvCxnSpPr>
            <p:spPr>
              <a:xfrm flipH="1" rot="10800000">
                <a:off x="3504523" y="3233242"/>
                <a:ext cx="2015100" cy="11622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67" name="Google Shape;167;p18"/>
              <p:cNvCxnSpPr>
                <a:stCxn id="158" idx="3"/>
              </p:cNvCxnSpPr>
              <p:nvPr/>
            </p:nvCxnSpPr>
            <p:spPr>
              <a:xfrm flipH="1" rot="10800000">
                <a:off x="3504523" y="5630474"/>
                <a:ext cx="2015100" cy="2619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68" name="Google Shape;168;p18"/>
              <p:cNvCxnSpPr>
                <a:stCxn id="160" idx="3"/>
                <a:endCxn id="169" idx="2"/>
              </p:cNvCxnSpPr>
              <p:nvPr/>
            </p:nvCxnSpPr>
            <p:spPr>
              <a:xfrm>
                <a:off x="6882647" y="3233360"/>
                <a:ext cx="508800" cy="66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70" name="Google Shape;170;p18"/>
              <p:cNvCxnSpPr>
                <a:stCxn id="161" idx="3"/>
                <a:endCxn id="171" idx="2"/>
              </p:cNvCxnSpPr>
              <p:nvPr/>
            </p:nvCxnSpPr>
            <p:spPr>
              <a:xfrm>
                <a:off x="6882647" y="5483985"/>
                <a:ext cx="508800" cy="39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172" name="Google Shape;172;p18"/>
              <p:cNvSpPr/>
              <p:nvPr/>
            </p:nvSpPr>
            <p:spPr>
              <a:xfrm rot="10800000">
                <a:off x="7543798" y="2133596"/>
                <a:ext cx="1433071" cy="4495800"/>
              </a:xfrm>
              <a:prstGeom prst="foldedCorner">
                <a:avLst>
                  <a:gd fmla="val 16667" name="adj"/>
                </a:avLst>
              </a:prstGeom>
              <a:gradFill>
                <a:gsLst>
                  <a:gs pos="0">
                    <a:srgbClr val="DAFEA4"/>
                  </a:gs>
                  <a:gs pos="35000">
                    <a:srgbClr val="E3FEBF"/>
                  </a:gs>
                  <a:gs pos="100000">
                    <a:srgbClr val="F4FEE6"/>
                  </a:gs>
                </a:gsLst>
                <a:lin ang="16200000" scaled="0"/>
              </a:gradFill>
              <a:ln cap="flat" cmpd="sng" w="9525">
                <a:solidFill>
                  <a:srgbClr val="97B85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169" name="Google Shape;169;p18"/>
              <p:cNvSpPr/>
              <p:nvPr/>
            </p:nvSpPr>
            <p:spPr>
              <a:xfrm flipH="1">
                <a:off x="7391400" y="2133600"/>
                <a:ext cx="152400" cy="2212585"/>
              </a:xfrm>
              <a:prstGeom prst="rightBracket">
                <a:avLst>
                  <a:gd fmla="val 8333" name="adj"/>
                </a:avLst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171" name="Google Shape;171;p18"/>
              <p:cNvSpPr/>
              <p:nvPr/>
            </p:nvSpPr>
            <p:spPr>
              <a:xfrm flipH="1">
                <a:off x="7391400" y="4346185"/>
                <a:ext cx="152400" cy="2283215"/>
              </a:xfrm>
              <a:prstGeom prst="rightBracket">
                <a:avLst>
                  <a:gd fmla="val 8333" name="adj"/>
                </a:avLst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3" name="Google Shape;173;p18"/>
            <p:cNvGrpSpPr/>
            <p:nvPr/>
          </p:nvGrpSpPr>
          <p:grpSpPr>
            <a:xfrm>
              <a:off x="195109" y="3005909"/>
              <a:ext cx="8663829" cy="643663"/>
              <a:chOff x="285669" y="3684835"/>
              <a:chExt cx="8636670" cy="643663"/>
            </a:xfrm>
          </p:grpSpPr>
          <p:sp>
            <p:nvSpPr>
              <p:cNvPr id="174" name="Google Shape;174;p18"/>
              <p:cNvSpPr txBox="1"/>
              <p:nvPr/>
            </p:nvSpPr>
            <p:spPr>
              <a:xfrm>
                <a:off x="285669" y="3684836"/>
                <a:ext cx="1388924" cy="643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200"/>
                  <a:buFont typeface="Corbel"/>
                  <a:buNone/>
                </a:pPr>
                <a:r>
                  <a:rPr b="0" i="0" lang="en-US" sz="2200" u="none" cap="none" strike="noStrike">
                    <a:solidFill>
                      <a:srgbClr val="000000"/>
                    </a:solidFill>
                    <a:latin typeface="Corbel"/>
                    <a:ea typeface="Corbel"/>
                    <a:cs typeface="Corbel"/>
                    <a:sym typeface="Corbel"/>
                  </a:rPr>
                  <a:t>Input</a:t>
                </a:r>
                <a:endParaRPr/>
              </a:p>
            </p:txBody>
          </p:sp>
          <p:sp>
            <p:nvSpPr>
              <p:cNvPr id="175" name="Google Shape;175;p18"/>
              <p:cNvSpPr txBox="1"/>
              <p:nvPr/>
            </p:nvSpPr>
            <p:spPr>
              <a:xfrm>
                <a:off x="7539236" y="3684835"/>
                <a:ext cx="1383103" cy="643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200"/>
                  <a:buFont typeface="Corbel"/>
                  <a:buNone/>
                </a:pPr>
                <a:r>
                  <a:rPr b="0" i="0" lang="en-US" sz="2200" u="none" cap="none" strike="noStrike">
                    <a:solidFill>
                      <a:srgbClr val="000000"/>
                    </a:solidFill>
                    <a:latin typeface="Corbel"/>
                    <a:ea typeface="Corbel"/>
                    <a:cs typeface="Corbel"/>
                    <a:sym typeface="Corbel"/>
                  </a:rPr>
                  <a:t>Output</a:t>
                </a:r>
                <a:endParaRPr/>
              </a:p>
            </p:txBody>
          </p:sp>
        </p:grpSp>
      </p:grpSp>
      <p:sp>
        <p:nvSpPr>
          <p:cNvPr id="176" name="Google Shape;176;p18"/>
          <p:cNvSpPr/>
          <p:nvPr/>
        </p:nvSpPr>
        <p:spPr>
          <a:xfrm>
            <a:off x="7648721" y="5761620"/>
            <a:ext cx="564024" cy="537089"/>
          </a:xfrm>
          <a:prstGeom prst="can">
            <a:avLst>
              <a:gd fmla="val 25000" name="adj"/>
            </a:avLst>
          </a:prstGeom>
          <a:gradFill>
            <a:gsLst>
              <a:gs pos="0">
                <a:srgbClr val="A0C94A"/>
              </a:gs>
              <a:gs pos="100000">
                <a:srgbClr val="DBFF9C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1741978" y="5755385"/>
            <a:ext cx="564024" cy="537089"/>
          </a:xfrm>
          <a:prstGeom prst="can">
            <a:avLst>
              <a:gd fmla="val 25000" name="adj"/>
            </a:avLst>
          </a:prstGeom>
          <a:gradFill>
            <a:gsLst>
              <a:gs pos="0">
                <a:srgbClr val="A0C94A"/>
              </a:gs>
              <a:gs pos="100000">
                <a:srgbClr val="DBFF9C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0" y="3810000"/>
            <a:ext cx="9143999" cy="2895600"/>
          </a:xfrm>
          <a:prstGeom prst="rect">
            <a:avLst/>
          </a:prstGeom>
          <a:solidFill>
            <a:schemeClr val="lt1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600364" y="4366660"/>
            <a:ext cx="8077200" cy="1584998"/>
          </a:xfrm>
          <a:prstGeom prst="roundRect">
            <a:avLst>
              <a:gd fmla="val 10339" name="adj"/>
            </a:avLst>
          </a:prstGeom>
          <a:solidFill>
            <a:srgbClr val="D9E4F2"/>
          </a:solidFill>
          <a:ln cap="flat" cmpd="sng" w="19050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Benefits of data flow: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runtime can decide where to run tasks and can automatically recover from failures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8"/>
          <p:cNvSpPr txBox="1"/>
          <p:nvPr>
            <p:ph idx="1" type="body"/>
          </p:nvPr>
        </p:nvSpPr>
        <p:spPr>
          <a:xfrm>
            <a:off x="457200" y="1867084"/>
            <a:ext cx="8229600" cy="2263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/>
              <a:t>Most current cluster programming models are based on </a:t>
            </a:r>
            <a:r>
              <a:rPr i="1" lang="en-US"/>
              <a:t>acyclic data flow</a:t>
            </a:r>
            <a:r>
              <a:rPr lang="en-US"/>
              <a:t> from stable storage to stable storage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"/>
          <p:cNvSpPr txBox="1"/>
          <p:nvPr>
            <p:ph type="title"/>
          </p:nvPr>
        </p:nvSpPr>
        <p:spPr>
          <a:xfrm>
            <a:off x="457200" y="59805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Motivation</a:t>
            </a:r>
            <a:endParaRPr/>
          </a:p>
        </p:txBody>
      </p:sp>
      <p:sp>
        <p:nvSpPr>
          <p:cNvPr id="186" name="Google Shape;186;p19"/>
          <p:cNvSpPr txBox="1"/>
          <p:nvPr>
            <p:ph idx="1" type="body"/>
          </p:nvPr>
        </p:nvSpPr>
        <p:spPr>
          <a:xfrm>
            <a:off x="457200" y="1951038"/>
            <a:ext cx="8229600" cy="4221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/>
              <a:t>Acyclic data flow is inefficient for applications that repeatedly reuse a </a:t>
            </a:r>
            <a:r>
              <a:rPr i="1" lang="en-US"/>
              <a:t>working set</a:t>
            </a:r>
            <a:r>
              <a:rPr lang="en-US"/>
              <a:t> of data:</a:t>
            </a:r>
            <a:endParaRPr/>
          </a:p>
          <a:p>
            <a:pPr indent="-2286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»"/>
            </a:pPr>
            <a:r>
              <a:rPr b="1" lang="en-US" sz="3000"/>
              <a:t>Iterative</a:t>
            </a:r>
            <a:r>
              <a:rPr lang="en-US" sz="3000"/>
              <a:t> algorithms (machine learning, graphs)</a:t>
            </a:r>
            <a:endParaRPr sz="3000"/>
          </a:p>
          <a:p>
            <a:pPr indent="-2286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»"/>
            </a:pPr>
            <a:r>
              <a:rPr b="1" lang="en-US" sz="3000"/>
              <a:t>Interactive</a:t>
            </a:r>
            <a:r>
              <a:rPr lang="en-US" sz="3000"/>
              <a:t> data mining tools (R, Excel, Python)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/>
              <a:t>With current frameworks, apps reload data from stable storage on each query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 txBox="1"/>
          <p:nvPr>
            <p:ph type="title"/>
          </p:nvPr>
        </p:nvSpPr>
        <p:spPr>
          <a:xfrm>
            <a:off x="457200" y="59805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Solution: Resilient</a:t>
            </a:r>
            <a:br>
              <a:rPr lang="en-US" sz="4800"/>
            </a:br>
            <a:r>
              <a:rPr lang="en-US" sz="4800"/>
              <a:t>Distributed Datasets (RDDs)</a:t>
            </a:r>
            <a:endParaRPr sz="4800"/>
          </a:p>
        </p:txBody>
      </p:sp>
      <p:sp>
        <p:nvSpPr>
          <p:cNvPr id="193" name="Google Shape;193;p20"/>
          <p:cNvSpPr txBox="1"/>
          <p:nvPr>
            <p:ph idx="1" type="body"/>
          </p:nvPr>
        </p:nvSpPr>
        <p:spPr>
          <a:xfrm>
            <a:off x="457200" y="2209800"/>
            <a:ext cx="8229600" cy="4221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/>
              <a:t>Allow apps to keep working sets in memory for efficient reuse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/>
              <a:t>Retain the attractive properties of MapReduce</a:t>
            </a:r>
            <a:endParaRPr/>
          </a:p>
          <a:p>
            <a:pPr indent="-2286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</a:pPr>
            <a:r>
              <a:rPr lang="en-US"/>
              <a:t>Fault tolerance, data locality, scalability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/>
              <a:t>Support a wide range of applications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/>
          <p:nvPr/>
        </p:nvSpPr>
        <p:spPr>
          <a:xfrm>
            <a:off x="415635" y="1974127"/>
            <a:ext cx="8305800" cy="616673"/>
          </a:xfrm>
          <a:prstGeom prst="roundRect">
            <a:avLst>
              <a:gd fmla="val 10339" name="adj"/>
            </a:avLst>
          </a:prstGeom>
          <a:solidFill>
            <a:srgbClr val="D9E4F2"/>
          </a:solidFill>
          <a:ln cap="flat" cmpd="sng" w="19050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1"/>
          <p:cNvSpPr txBox="1"/>
          <p:nvPr>
            <p:ph type="title"/>
          </p:nvPr>
        </p:nvSpPr>
        <p:spPr>
          <a:xfrm>
            <a:off x="457200" y="59805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201" name="Google Shape;201;p21"/>
          <p:cNvSpPr txBox="1"/>
          <p:nvPr>
            <p:ph idx="1" type="body"/>
          </p:nvPr>
        </p:nvSpPr>
        <p:spPr>
          <a:xfrm>
            <a:off x="457200" y="1951038"/>
            <a:ext cx="8229600" cy="4221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/>
              <a:t>Spark programming model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/>
              <a:t>Implementation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/>
              <a:t>Demo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/>
              <a:t>User applications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"/>
          <p:cNvSpPr txBox="1"/>
          <p:nvPr>
            <p:ph type="title"/>
          </p:nvPr>
        </p:nvSpPr>
        <p:spPr>
          <a:xfrm>
            <a:off x="457200" y="381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Programming Model</a:t>
            </a:r>
            <a:endParaRPr/>
          </a:p>
        </p:txBody>
      </p:sp>
      <p:sp>
        <p:nvSpPr>
          <p:cNvPr id="208" name="Google Shape;208;p22"/>
          <p:cNvSpPr txBox="1"/>
          <p:nvPr>
            <p:ph idx="1" type="body"/>
          </p:nvPr>
        </p:nvSpPr>
        <p:spPr>
          <a:xfrm>
            <a:off x="457200" y="1828800"/>
            <a:ext cx="8229600" cy="4221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/>
              <a:t>Resilient distributed datasets (RDDs)</a:t>
            </a:r>
            <a:endParaRPr/>
          </a:p>
          <a:p>
            <a:pPr indent="-2286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</a:pPr>
            <a:r>
              <a:rPr lang="en-US"/>
              <a:t>Immutable, partitioned collections of objects</a:t>
            </a:r>
            <a:endParaRPr/>
          </a:p>
          <a:p>
            <a:pPr indent="-2286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</a:pPr>
            <a:r>
              <a:rPr lang="en-US"/>
              <a:t>Created through parallel </a:t>
            </a:r>
            <a:r>
              <a:rPr i="1" lang="en-US"/>
              <a:t>transformations</a:t>
            </a:r>
            <a:r>
              <a:rPr lang="en-US"/>
              <a:t> (map, filter, groupBy, join, …) on data in stable storage</a:t>
            </a:r>
            <a:endParaRPr/>
          </a:p>
          <a:p>
            <a:pPr indent="-2286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</a:pPr>
            <a:r>
              <a:rPr lang="en-US"/>
              <a:t>Can be</a:t>
            </a:r>
            <a:r>
              <a:rPr i="1" lang="en-US"/>
              <a:t> cached</a:t>
            </a:r>
            <a:r>
              <a:rPr lang="en-US"/>
              <a:t> for efficient reuse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i="1" lang="en-US"/>
              <a:t>Actions</a:t>
            </a:r>
            <a:r>
              <a:rPr lang="en-US"/>
              <a:t> on RDDs</a:t>
            </a:r>
            <a:endParaRPr/>
          </a:p>
          <a:p>
            <a:pPr indent="-2286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</a:pPr>
            <a:r>
              <a:rPr lang="en-US"/>
              <a:t>Count, reduce, collect, save, …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"/>
          <p:cNvSpPr txBox="1"/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/>
              <a:t>Example: Log Mining</a:t>
            </a:r>
            <a:endParaRPr sz="5700"/>
          </a:p>
        </p:txBody>
      </p:sp>
      <p:sp>
        <p:nvSpPr>
          <p:cNvPr id="215" name="Google Shape;215;p23"/>
          <p:cNvSpPr txBox="1"/>
          <p:nvPr>
            <p:ph idx="1" type="body"/>
          </p:nvPr>
        </p:nvSpPr>
        <p:spPr>
          <a:xfrm>
            <a:off x="457200" y="14478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bel"/>
              <a:buNone/>
            </a:pPr>
            <a:r>
              <a:rPr lang="en-US" sz="3000"/>
              <a:t>Load error messages from a log into memory, then interactively search for various patterns</a:t>
            </a:r>
            <a:endParaRPr sz="3000"/>
          </a:p>
        </p:txBody>
      </p:sp>
      <p:sp>
        <p:nvSpPr>
          <p:cNvPr id="216" name="Google Shape;216;p23"/>
          <p:cNvSpPr txBox="1"/>
          <p:nvPr/>
        </p:nvSpPr>
        <p:spPr>
          <a:xfrm>
            <a:off x="228600" y="2667000"/>
            <a:ext cx="5791200" cy="1308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lines = spark.textFile(“hdfs://...”)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errors = lines.</a:t>
            </a:r>
            <a:r>
              <a:rPr lang="en-US" sz="1600">
                <a:solidFill>
                  <a:srgbClr val="3366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filter</a:t>
            </a:r>
            <a:r>
              <a:rPr lang="en-US" sz="16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(</a:t>
            </a:r>
            <a:r>
              <a:rPr lang="en-US" sz="1600">
                <a:solidFill>
                  <a:srgbClr val="FF008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_.startsWith(“ERROR”)</a:t>
            </a:r>
            <a:r>
              <a:rPr lang="en-US" sz="16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messages = errors.</a:t>
            </a:r>
            <a:r>
              <a:rPr lang="en-US" sz="1600">
                <a:solidFill>
                  <a:srgbClr val="3366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map</a:t>
            </a:r>
            <a:r>
              <a:rPr lang="en-US" sz="16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(</a:t>
            </a:r>
            <a:r>
              <a:rPr lang="en-US" sz="1600">
                <a:solidFill>
                  <a:srgbClr val="FF008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_.split(‘\t’)(2)</a:t>
            </a:r>
            <a:r>
              <a:rPr lang="en-US" sz="16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cachedMsgs = messages.</a:t>
            </a:r>
            <a:r>
              <a:rPr lang="en-US" sz="1600">
                <a:solidFill>
                  <a:srgbClr val="3366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cache</a:t>
            </a:r>
            <a:r>
              <a:rPr lang="en-US" sz="16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()</a:t>
            </a:r>
            <a:endParaRPr/>
          </a:p>
        </p:txBody>
      </p:sp>
      <p:grpSp>
        <p:nvGrpSpPr>
          <p:cNvPr id="217" name="Google Shape;217;p23"/>
          <p:cNvGrpSpPr/>
          <p:nvPr/>
        </p:nvGrpSpPr>
        <p:grpSpPr>
          <a:xfrm>
            <a:off x="5615710" y="2743323"/>
            <a:ext cx="3071090" cy="3851442"/>
            <a:chOff x="5615710" y="2743323"/>
            <a:chExt cx="3071090" cy="3851442"/>
          </a:xfrm>
        </p:grpSpPr>
        <p:pic>
          <p:nvPicPr>
            <p:cNvPr id="218" name="Google Shape;218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923729" y="3493655"/>
              <a:ext cx="1128236" cy="11282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" name="Google Shape;219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58564" y="2743323"/>
              <a:ext cx="1128236" cy="11282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467600" y="4800600"/>
              <a:ext cx="1128236" cy="11282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15710" y="5466529"/>
              <a:ext cx="1128236" cy="112823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2" name="Google Shape;222;p23"/>
          <p:cNvSpPr/>
          <p:nvPr/>
        </p:nvSpPr>
        <p:spPr>
          <a:xfrm>
            <a:off x="7644049" y="3345025"/>
            <a:ext cx="791061" cy="320596"/>
          </a:xfrm>
          <a:prstGeom prst="rect">
            <a:avLst/>
          </a:prstGeom>
          <a:gradFill>
            <a:gsLst>
              <a:gs pos="0">
                <a:srgbClr val="D13F3B"/>
              </a:gs>
              <a:gs pos="100000">
                <a:srgbClr val="FF9995"/>
              </a:gs>
            </a:gsLst>
            <a:lin ang="16200000" scaled="0"/>
          </a:gradFill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Block 1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7526286" y="5395008"/>
            <a:ext cx="819727" cy="320596"/>
          </a:xfrm>
          <a:prstGeom prst="rect">
            <a:avLst/>
          </a:prstGeom>
          <a:gradFill>
            <a:gsLst>
              <a:gs pos="0">
                <a:srgbClr val="D13F3B"/>
              </a:gs>
              <a:gs pos="100000">
                <a:srgbClr val="FF9995"/>
              </a:gs>
            </a:gsLst>
            <a:lin ang="16200000" scaled="0"/>
          </a:gradFill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Block 2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5680365" y="6056686"/>
            <a:ext cx="806782" cy="320596"/>
          </a:xfrm>
          <a:prstGeom prst="rect">
            <a:avLst/>
          </a:prstGeom>
          <a:gradFill>
            <a:gsLst>
              <a:gs pos="0">
                <a:srgbClr val="D13F3B"/>
              </a:gs>
              <a:gs pos="100000">
                <a:srgbClr val="FF9995"/>
              </a:gs>
            </a:gsLst>
            <a:lin ang="16200000" scaled="0"/>
          </a:gradFill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Block 3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5" name="Google Shape;225;p23"/>
          <p:cNvGrpSpPr/>
          <p:nvPr/>
        </p:nvGrpSpPr>
        <p:grpSpPr>
          <a:xfrm>
            <a:off x="6019801" y="3042352"/>
            <a:ext cx="1577109" cy="2375746"/>
            <a:chOff x="6019801" y="3042352"/>
            <a:chExt cx="1577109" cy="2375746"/>
          </a:xfrm>
        </p:grpSpPr>
        <p:cxnSp>
          <p:nvCxnSpPr>
            <p:cNvPr id="226" name="Google Shape;226;p23"/>
            <p:cNvCxnSpPr/>
            <p:nvPr/>
          </p:nvCxnSpPr>
          <p:spPr>
            <a:xfrm flipH="1" rot="10800000">
              <a:off x="6518519" y="3042352"/>
              <a:ext cx="1078391" cy="600181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227" name="Google Shape;227;p23"/>
            <p:cNvCxnSpPr/>
            <p:nvPr/>
          </p:nvCxnSpPr>
          <p:spPr>
            <a:xfrm>
              <a:off x="6415567" y="3665623"/>
              <a:ext cx="1142135" cy="1097665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228" name="Google Shape;228;p23"/>
            <p:cNvCxnSpPr/>
            <p:nvPr/>
          </p:nvCxnSpPr>
          <p:spPr>
            <a:xfrm rot="5400000">
              <a:off x="5341447" y="4343977"/>
              <a:ext cx="1752475" cy="395767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229" name="Google Shape;229;p23"/>
          <p:cNvGrpSpPr/>
          <p:nvPr/>
        </p:nvGrpSpPr>
        <p:grpSpPr>
          <a:xfrm>
            <a:off x="5638800" y="2707533"/>
            <a:ext cx="2860965" cy="3075342"/>
            <a:chOff x="5638800" y="2707533"/>
            <a:chExt cx="2860965" cy="3075342"/>
          </a:xfrm>
        </p:grpSpPr>
        <p:sp>
          <p:nvSpPr>
            <p:cNvPr id="230" name="Google Shape;230;p23"/>
            <p:cNvSpPr/>
            <p:nvPr/>
          </p:nvSpPr>
          <p:spPr>
            <a:xfrm>
              <a:off x="7585365" y="2707533"/>
              <a:ext cx="914400" cy="357908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Worker</a:t>
              </a:r>
              <a:endParaRPr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3"/>
            <p:cNvSpPr/>
            <p:nvPr/>
          </p:nvSpPr>
          <p:spPr>
            <a:xfrm>
              <a:off x="5638800" y="5424967"/>
              <a:ext cx="914400" cy="357908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Worker</a:t>
              </a:r>
              <a:endParaRPr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3"/>
            <p:cNvSpPr/>
            <p:nvPr/>
          </p:nvSpPr>
          <p:spPr>
            <a:xfrm>
              <a:off x="7493956" y="4763289"/>
              <a:ext cx="914400" cy="357908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Worker</a:t>
              </a:r>
              <a:endParaRPr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3"/>
            <p:cNvSpPr/>
            <p:nvPr/>
          </p:nvSpPr>
          <p:spPr>
            <a:xfrm>
              <a:off x="5946819" y="3452092"/>
              <a:ext cx="914400" cy="357908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38B6D8"/>
                </a:gs>
                <a:gs pos="100000">
                  <a:srgbClr val="91ECFF"/>
                </a:gs>
              </a:gsLst>
              <a:lin ang="16200000" scaled="0"/>
            </a:gradFill>
            <a:ln cap="flat" cmpd="sng" w="9525">
              <a:solidFill>
                <a:srgbClr val="45A9C4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Driver</a:t>
              </a:r>
              <a:endParaRPr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4" name="Google Shape;234;p23"/>
          <p:cNvSpPr txBox="1"/>
          <p:nvPr/>
        </p:nvSpPr>
        <p:spPr>
          <a:xfrm>
            <a:off x="228601" y="4248011"/>
            <a:ext cx="57912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cachedMsgs.</a:t>
            </a:r>
            <a:r>
              <a:rPr lang="en-US" sz="1600">
                <a:solidFill>
                  <a:srgbClr val="3366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filter</a:t>
            </a:r>
            <a:r>
              <a:rPr lang="en-US" sz="16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(</a:t>
            </a:r>
            <a:r>
              <a:rPr lang="en-US" sz="1600">
                <a:solidFill>
                  <a:srgbClr val="FF008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_.contains(“foo”)</a:t>
            </a:r>
            <a:r>
              <a:rPr lang="en-US" sz="16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).</a:t>
            </a:r>
            <a:r>
              <a:rPr lang="en-US" sz="1600">
                <a:solidFill>
                  <a:srgbClr val="3366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count</a:t>
            </a:r>
            <a:endParaRPr sz="1600">
              <a:solidFill>
                <a:srgbClr val="3366FF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cxnSp>
        <p:nvCxnSpPr>
          <p:cNvPr id="235" name="Google Shape;235;p23"/>
          <p:cNvCxnSpPr/>
          <p:nvPr/>
        </p:nvCxnSpPr>
        <p:spPr>
          <a:xfrm rot="-5400000">
            <a:off x="5306291" y="4456545"/>
            <a:ext cx="1570182" cy="337128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6" name="Google Shape;236;p23"/>
          <p:cNvCxnSpPr/>
          <p:nvPr/>
        </p:nvCxnSpPr>
        <p:spPr>
          <a:xfrm rot="10800000">
            <a:off x="6742550" y="3840020"/>
            <a:ext cx="958269" cy="90516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7" name="Google Shape;237;p23"/>
          <p:cNvCxnSpPr/>
          <p:nvPr/>
        </p:nvCxnSpPr>
        <p:spPr>
          <a:xfrm flipH="1">
            <a:off x="6664036" y="2941777"/>
            <a:ext cx="909784" cy="494145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38" name="Google Shape;238;p23"/>
          <p:cNvSpPr txBox="1"/>
          <p:nvPr/>
        </p:nvSpPr>
        <p:spPr>
          <a:xfrm>
            <a:off x="228600" y="4572000"/>
            <a:ext cx="57912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cachedMsgs.</a:t>
            </a:r>
            <a:r>
              <a:rPr lang="en-US" sz="1600">
                <a:solidFill>
                  <a:srgbClr val="3366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filter</a:t>
            </a:r>
            <a:r>
              <a:rPr lang="en-US" sz="16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(</a:t>
            </a:r>
            <a:r>
              <a:rPr lang="en-US" sz="1600">
                <a:solidFill>
                  <a:srgbClr val="FF008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_.contains(“bar”)</a:t>
            </a:r>
            <a:r>
              <a:rPr lang="en-US" sz="16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).</a:t>
            </a:r>
            <a:r>
              <a:rPr lang="en-US" sz="1600">
                <a:solidFill>
                  <a:srgbClr val="3366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count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228600" y="4919246"/>
            <a:ext cx="57912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. . .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6997814" y="3242846"/>
            <a:ext cx="6221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tasks</a:t>
            </a:r>
            <a:endParaRPr sz="16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6477000" y="2873391"/>
            <a:ext cx="7464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results</a:t>
            </a:r>
            <a:endParaRPr sz="16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8111836" y="2449945"/>
            <a:ext cx="727364" cy="320596"/>
          </a:xfrm>
          <a:prstGeom prst="rect">
            <a:avLst/>
          </a:prstGeom>
          <a:gradFill>
            <a:gsLst>
              <a:gs pos="0">
                <a:srgbClr val="7F5AAB"/>
              </a:gs>
              <a:gs pos="100000">
                <a:srgbClr val="C7AEED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Cache 1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8047181" y="4523264"/>
            <a:ext cx="727364" cy="320596"/>
          </a:xfrm>
          <a:prstGeom prst="rect">
            <a:avLst/>
          </a:prstGeom>
          <a:gradFill>
            <a:gsLst>
              <a:gs pos="0">
                <a:srgbClr val="7F5AAB"/>
              </a:gs>
              <a:gs pos="100000">
                <a:srgbClr val="C7AEED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Cache 2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6195291" y="5161729"/>
            <a:ext cx="727364" cy="320596"/>
          </a:xfrm>
          <a:prstGeom prst="rect">
            <a:avLst/>
          </a:prstGeom>
          <a:gradFill>
            <a:gsLst>
              <a:gs pos="0">
                <a:srgbClr val="7F5AAB"/>
              </a:gs>
              <a:gs pos="100000">
                <a:srgbClr val="C7AEED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Cache 3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5234708" y="2505364"/>
            <a:ext cx="1154547" cy="311727"/>
          </a:xfrm>
          <a:prstGeom prst="wedgeRectCallout">
            <a:avLst>
              <a:gd fmla="val -94279" name="adj1"/>
              <a:gd fmla="val 44724" name="adj2"/>
            </a:avLst>
          </a:prstGeom>
          <a:gradFill>
            <a:gsLst>
              <a:gs pos="0">
                <a:srgbClr val="FF932B"/>
              </a:gs>
              <a:gs pos="100000">
                <a:srgbClr val="FFB673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Base RDD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5644327" y="2590800"/>
            <a:ext cx="1834818" cy="311727"/>
          </a:xfrm>
          <a:prstGeom prst="wedgeRectCallout">
            <a:avLst>
              <a:gd fmla="val -46677" name="adj1"/>
              <a:gd fmla="val 118798" name="adj2"/>
            </a:avLst>
          </a:prstGeom>
          <a:gradFill>
            <a:gsLst>
              <a:gs pos="0">
                <a:srgbClr val="FF932B"/>
              </a:gs>
              <a:gs pos="100000">
                <a:srgbClr val="FFB673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Transformed RDD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5849835" y="4038600"/>
            <a:ext cx="1058965" cy="311727"/>
          </a:xfrm>
          <a:prstGeom prst="wedgeRectCallout">
            <a:avLst>
              <a:gd fmla="val -77556" name="adj1"/>
              <a:gd fmla="val 52132" name="adj2"/>
            </a:avLst>
          </a:prstGeom>
          <a:gradFill>
            <a:gsLst>
              <a:gs pos="0">
                <a:srgbClr val="FF932B"/>
              </a:gs>
              <a:gs pos="100000">
                <a:srgbClr val="FFB673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399302" y="5486400"/>
            <a:ext cx="4777508" cy="849407"/>
          </a:xfrm>
          <a:prstGeom prst="roundRect">
            <a:avLst>
              <a:gd fmla="val 10339" name="adj"/>
            </a:avLst>
          </a:prstGeom>
          <a:solidFill>
            <a:srgbClr val="D9E4F2"/>
          </a:solidFill>
          <a:ln cap="flat" cmpd="sng" w="19050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Result:</a:t>
            </a: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full-text search of Wikipedia in &lt;1 sec (vs 20 sec for on-disk data)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399302" y="5486450"/>
            <a:ext cx="4777500" cy="849300"/>
          </a:xfrm>
          <a:prstGeom prst="roundRect">
            <a:avLst>
              <a:gd fmla="val 10339" name="adj"/>
            </a:avLst>
          </a:prstGeom>
          <a:solidFill>
            <a:srgbClr val="F2DADA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Result:</a:t>
            </a: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scaled to 1 TB data in 5-7 sec</a:t>
            </a:r>
            <a:b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(vs 170 sec for on-disk data)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"/>
          <p:cNvSpPr txBox="1"/>
          <p:nvPr>
            <p:ph type="title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RDD Fault Tolerance</a:t>
            </a:r>
            <a:endParaRPr/>
          </a:p>
        </p:txBody>
      </p:sp>
      <p:sp>
        <p:nvSpPr>
          <p:cNvPr id="256" name="Google Shape;256;p24"/>
          <p:cNvSpPr txBox="1"/>
          <p:nvPr>
            <p:ph idx="1" type="body"/>
          </p:nvPr>
        </p:nvSpPr>
        <p:spPr>
          <a:xfrm>
            <a:off x="457200" y="1699490"/>
            <a:ext cx="8305800" cy="4167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/>
              <a:t>RDDs maintain </a:t>
            </a:r>
            <a:r>
              <a:rPr i="1" lang="en-US"/>
              <a:t>lineage</a:t>
            </a:r>
            <a:r>
              <a:rPr lang="en-US"/>
              <a:t> information that can be used to reconstruct lost partitions</a:t>
            </a:r>
            <a:endParaRPr/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/>
              <a:t>Ex: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t/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1155958" y="3053200"/>
            <a:ext cx="774674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messages = textFile(...).</a:t>
            </a:r>
            <a:r>
              <a:rPr lang="en-US" sz="1800">
                <a:solidFill>
                  <a:srgbClr val="3366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filter</a:t>
            </a:r>
            <a:r>
              <a:rPr lang="en-US" sz="18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(</a:t>
            </a:r>
            <a:r>
              <a:rPr lang="en-US" sz="1800">
                <a:solidFill>
                  <a:srgbClr val="FF008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_.startsWith(“ERROR”)</a:t>
            </a:r>
            <a:r>
              <a:rPr lang="en-US" sz="18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                  .</a:t>
            </a:r>
            <a:r>
              <a:rPr lang="en-US" sz="1800">
                <a:solidFill>
                  <a:srgbClr val="3366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map</a:t>
            </a:r>
            <a:r>
              <a:rPr lang="en-US" sz="18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(</a:t>
            </a:r>
            <a:r>
              <a:rPr lang="en-US" sz="1800">
                <a:solidFill>
                  <a:srgbClr val="FF008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_.split(‘\t’)(2)</a:t>
            </a:r>
            <a:r>
              <a:rPr lang="en-US" sz="18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)</a:t>
            </a:r>
            <a:endParaRPr/>
          </a:p>
        </p:txBody>
      </p:sp>
      <p:sp>
        <p:nvSpPr>
          <p:cNvPr id="258" name="Google Shape;258;p24"/>
          <p:cNvSpPr/>
          <p:nvPr/>
        </p:nvSpPr>
        <p:spPr>
          <a:xfrm>
            <a:off x="843738" y="4704955"/>
            <a:ext cx="1679868" cy="622312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HDFS File</a:t>
            </a:r>
            <a:endParaRPr/>
          </a:p>
        </p:txBody>
      </p:sp>
      <p:sp>
        <p:nvSpPr>
          <p:cNvPr id="259" name="Google Shape;259;p24"/>
          <p:cNvSpPr/>
          <p:nvPr/>
        </p:nvSpPr>
        <p:spPr>
          <a:xfrm>
            <a:off x="3664636" y="4704955"/>
            <a:ext cx="1679868" cy="622312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Filtered RDD</a:t>
            </a:r>
            <a:endParaRPr/>
          </a:p>
        </p:txBody>
      </p:sp>
      <p:sp>
        <p:nvSpPr>
          <p:cNvPr id="260" name="Google Shape;260;p24"/>
          <p:cNvSpPr/>
          <p:nvPr/>
        </p:nvSpPr>
        <p:spPr>
          <a:xfrm>
            <a:off x="6485533" y="4704955"/>
            <a:ext cx="1679868" cy="622312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Mapped RDD</a:t>
            </a:r>
            <a:endParaRPr/>
          </a:p>
        </p:txBody>
      </p:sp>
      <p:cxnSp>
        <p:nvCxnSpPr>
          <p:cNvPr id="261" name="Google Shape;261;p24"/>
          <p:cNvCxnSpPr>
            <a:stCxn id="258" idx="3"/>
            <a:endCxn id="259" idx="1"/>
          </p:cNvCxnSpPr>
          <p:nvPr/>
        </p:nvCxnSpPr>
        <p:spPr>
          <a:xfrm>
            <a:off x="2523606" y="5016111"/>
            <a:ext cx="11409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62" name="Google Shape;262;p24"/>
          <p:cNvCxnSpPr>
            <a:stCxn id="259" idx="3"/>
            <a:endCxn id="260" idx="1"/>
          </p:cNvCxnSpPr>
          <p:nvPr/>
        </p:nvCxnSpPr>
        <p:spPr>
          <a:xfrm>
            <a:off x="5344504" y="5016111"/>
            <a:ext cx="11409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63" name="Google Shape;263;p24"/>
          <p:cNvSpPr/>
          <p:nvPr/>
        </p:nvSpPr>
        <p:spPr>
          <a:xfrm>
            <a:off x="3521093" y="3866146"/>
            <a:ext cx="2063402" cy="63824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ABF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4"/>
          <p:cNvSpPr txBox="1"/>
          <p:nvPr/>
        </p:nvSpPr>
        <p:spPr>
          <a:xfrm>
            <a:off x="1787975" y="5127845"/>
            <a:ext cx="2482220" cy="72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filter</a:t>
            </a:r>
            <a:b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(func = _.contains(...))</a:t>
            </a:r>
            <a:endParaRPr sz="2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65" name="Google Shape;265;p24"/>
          <p:cNvSpPr txBox="1"/>
          <p:nvPr/>
        </p:nvSpPr>
        <p:spPr>
          <a:xfrm>
            <a:off x="4824681" y="5127845"/>
            <a:ext cx="2032503" cy="72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map</a:t>
            </a:r>
            <a:b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(func = _.split(...))</a:t>
            </a:r>
            <a:endParaRPr sz="2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5"/>
          <p:cNvSpPr txBox="1"/>
          <p:nvPr>
            <p:ph type="title"/>
          </p:nvPr>
        </p:nvSpPr>
        <p:spPr>
          <a:xfrm>
            <a:off x="457200" y="59805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/>
              <a:t>Example: Logistic Regression</a:t>
            </a:r>
            <a:endParaRPr/>
          </a:p>
        </p:txBody>
      </p:sp>
      <p:sp>
        <p:nvSpPr>
          <p:cNvPr id="272" name="Google Shape;272;p25"/>
          <p:cNvSpPr txBox="1"/>
          <p:nvPr>
            <p:ph idx="1" type="body"/>
          </p:nvPr>
        </p:nvSpPr>
        <p:spPr>
          <a:xfrm>
            <a:off x="457200" y="1951038"/>
            <a:ext cx="8229600" cy="944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/>
              <a:t>Goal: find best line separating two sets of points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 rot="21003">
            <a:off x="4631452" y="3712963"/>
            <a:ext cx="409575" cy="5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 rot="21003">
            <a:off x="3611071" y="4946570"/>
            <a:ext cx="403225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 rot="21003">
            <a:off x="4524196" y="4118715"/>
            <a:ext cx="409575" cy="5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 rot="21003">
            <a:off x="5392507" y="3870015"/>
            <a:ext cx="409575" cy="5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 rot="21003">
            <a:off x="4981416" y="4116745"/>
            <a:ext cx="409575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 rot="21003">
            <a:off x="4909408" y="3430492"/>
            <a:ext cx="409575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 rot="21003">
            <a:off x="5360207" y="4479429"/>
            <a:ext cx="409575" cy="5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 rot="21003">
            <a:off x="4222689" y="3578699"/>
            <a:ext cx="409575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 rot="21003">
            <a:off x="4558386" y="3199744"/>
            <a:ext cx="409575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 rot="21003">
            <a:off x="5265127" y="3412028"/>
            <a:ext cx="409575" cy="5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 rot="21003">
            <a:off x="3356225" y="4538915"/>
            <a:ext cx="403225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 rot="21003">
            <a:off x="3918785" y="4470604"/>
            <a:ext cx="403225" cy="5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 rot="21003">
            <a:off x="3691925" y="4185049"/>
            <a:ext cx="403225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 rot="21003">
            <a:off x="3076411" y="5151269"/>
            <a:ext cx="403225" cy="5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 rot="21003">
            <a:off x="3159466" y="4029392"/>
            <a:ext cx="403225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 rot="21003">
            <a:off x="4145518" y="4776794"/>
            <a:ext cx="403225" cy="5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 rot="21003">
            <a:off x="3707167" y="5328163"/>
            <a:ext cx="403225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/>
          </a:p>
        </p:txBody>
      </p:sp>
      <p:sp>
        <p:nvSpPr>
          <p:cNvPr id="290" name="Google Shape;290;p25"/>
          <p:cNvSpPr txBox="1"/>
          <p:nvPr/>
        </p:nvSpPr>
        <p:spPr>
          <a:xfrm rot="21003">
            <a:off x="4219728" y="5102690"/>
            <a:ext cx="403225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/>
          </a:p>
        </p:txBody>
      </p:sp>
      <p:cxnSp>
        <p:nvCxnSpPr>
          <p:cNvPr id="291" name="Google Shape;291;p25"/>
          <p:cNvCxnSpPr/>
          <p:nvPr/>
        </p:nvCxnSpPr>
        <p:spPr>
          <a:xfrm flipH="1" rot="-5378997">
            <a:off x="2840916" y="3455897"/>
            <a:ext cx="3243262" cy="2311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25"/>
          <p:cNvSpPr txBox="1"/>
          <p:nvPr/>
        </p:nvSpPr>
        <p:spPr>
          <a:xfrm rot="21003">
            <a:off x="4826226" y="4573005"/>
            <a:ext cx="409575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293" name="Google Shape;293;p25"/>
          <p:cNvSpPr txBox="1"/>
          <p:nvPr/>
        </p:nvSpPr>
        <p:spPr>
          <a:xfrm>
            <a:off x="5469755" y="5564533"/>
            <a:ext cx="979487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target</a:t>
            </a:r>
            <a:endParaRPr/>
          </a:p>
        </p:txBody>
      </p:sp>
      <p:sp>
        <p:nvSpPr>
          <p:cNvPr id="294" name="Google Shape;294;p25"/>
          <p:cNvSpPr txBox="1"/>
          <p:nvPr/>
        </p:nvSpPr>
        <p:spPr>
          <a:xfrm rot="21003">
            <a:off x="2927146" y="4637585"/>
            <a:ext cx="403225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/>
          </a:p>
        </p:txBody>
      </p:sp>
      <p:cxnSp>
        <p:nvCxnSpPr>
          <p:cNvPr id="295" name="Google Shape;295;p25"/>
          <p:cNvCxnSpPr/>
          <p:nvPr/>
        </p:nvCxnSpPr>
        <p:spPr>
          <a:xfrm flipH="1" rot="-10778997">
            <a:off x="2570039" y="3426450"/>
            <a:ext cx="3759200" cy="243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" name="Google Shape;296;p25"/>
          <p:cNvCxnSpPr/>
          <p:nvPr/>
        </p:nvCxnSpPr>
        <p:spPr>
          <a:xfrm flipH="1" rot="-10778997">
            <a:off x="2239815" y="3967632"/>
            <a:ext cx="4368800" cy="1363662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25"/>
          <p:cNvCxnSpPr/>
          <p:nvPr/>
        </p:nvCxnSpPr>
        <p:spPr>
          <a:xfrm flipH="1" rot="-10778997">
            <a:off x="2151003" y="4493017"/>
            <a:ext cx="4521200" cy="284163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" name="Google Shape;298;p25"/>
          <p:cNvCxnSpPr/>
          <p:nvPr/>
        </p:nvCxnSpPr>
        <p:spPr>
          <a:xfrm rot="21003">
            <a:off x="2290716" y="4010689"/>
            <a:ext cx="4330700" cy="1244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25"/>
          <p:cNvSpPr txBox="1"/>
          <p:nvPr/>
        </p:nvSpPr>
        <p:spPr>
          <a:xfrm>
            <a:off x="5258871" y="2926154"/>
            <a:ext cx="2471738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random initial line</a:t>
            </a:r>
            <a:endParaRPr/>
          </a:p>
        </p:txBody>
      </p:sp>
      <p:grpSp>
        <p:nvGrpSpPr>
          <p:cNvPr id="300" name="Google Shape;300;p25"/>
          <p:cNvGrpSpPr/>
          <p:nvPr/>
        </p:nvGrpSpPr>
        <p:grpSpPr>
          <a:xfrm>
            <a:off x="3126972" y="3489501"/>
            <a:ext cx="2468519" cy="2174924"/>
            <a:chOff x="3126972" y="3489501"/>
            <a:chExt cx="2468519" cy="2174924"/>
          </a:xfrm>
        </p:grpSpPr>
        <p:cxnSp>
          <p:nvCxnSpPr>
            <p:cNvPr id="301" name="Google Shape;301;p25"/>
            <p:cNvCxnSpPr/>
            <p:nvPr/>
          </p:nvCxnSpPr>
          <p:spPr>
            <a:xfrm rot="-7355750">
              <a:off x="3682592" y="5197449"/>
              <a:ext cx="160354" cy="1588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grpSp>
          <p:nvGrpSpPr>
            <p:cNvPr id="302" name="Google Shape;302;p25"/>
            <p:cNvGrpSpPr/>
            <p:nvPr/>
          </p:nvGrpSpPr>
          <p:grpSpPr>
            <a:xfrm>
              <a:off x="3126972" y="3489501"/>
              <a:ext cx="2468519" cy="2174924"/>
              <a:chOff x="3126972" y="3489501"/>
              <a:chExt cx="2468519" cy="2174924"/>
            </a:xfrm>
          </p:grpSpPr>
          <p:cxnSp>
            <p:nvCxnSpPr>
              <p:cNvPr id="303" name="Google Shape;303;p25"/>
              <p:cNvCxnSpPr/>
              <p:nvPr/>
            </p:nvCxnSpPr>
            <p:spPr>
              <a:xfrm rot="3444250">
                <a:off x="5033149" y="3903762"/>
                <a:ext cx="403624" cy="1588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4" name="Google Shape;304;p25"/>
              <p:cNvCxnSpPr/>
              <p:nvPr/>
            </p:nvCxnSpPr>
            <p:spPr>
              <a:xfrm rot="3444250">
                <a:off x="4774550" y="4151154"/>
                <a:ext cx="313625" cy="1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5" name="Google Shape;305;p25"/>
              <p:cNvCxnSpPr/>
              <p:nvPr/>
            </p:nvCxnSpPr>
            <p:spPr>
              <a:xfrm rot="3444250">
                <a:off x="4587284" y="3816335"/>
                <a:ext cx="779209" cy="6091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6" name="Google Shape;306;p25"/>
              <p:cNvCxnSpPr/>
              <p:nvPr/>
            </p:nvCxnSpPr>
            <p:spPr>
              <a:xfrm rot="3444250">
                <a:off x="5468598" y="3812828"/>
                <a:ext cx="164046" cy="1622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7" name="Google Shape;307;p25"/>
              <p:cNvCxnSpPr/>
              <p:nvPr/>
            </p:nvCxnSpPr>
            <p:spPr>
              <a:xfrm rot="3444250">
                <a:off x="4274614" y="4142492"/>
                <a:ext cx="662144" cy="1588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8" name="Google Shape;308;p25"/>
              <p:cNvCxnSpPr/>
              <p:nvPr/>
            </p:nvCxnSpPr>
            <p:spPr>
              <a:xfrm rot="-7355750">
                <a:off x="5434881" y="4064161"/>
                <a:ext cx="174407" cy="1588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9" name="Google Shape;309;p25"/>
              <p:cNvCxnSpPr/>
              <p:nvPr/>
            </p:nvCxnSpPr>
            <p:spPr>
              <a:xfrm rot="-7355750">
                <a:off x="5036308" y="4319960"/>
                <a:ext cx="174408" cy="1588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0" name="Google Shape;310;p25"/>
              <p:cNvCxnSpPr/>
              <p:nvPr/>
            </p:nvCxnSpPr>
            <p:spPr>
              <a:xfrm rot="-7355750">
                <a:off x="5036606" y="4457271"/>
                <a:ext cx="626068" cy="1588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1" name="Google Shape;311;p25"/>
              <p:cNvCxnSpPr/>
              <p:nvPr/>
            </p:nvCxnSpPr>
            <p:spPr>
              <a:xfrm rot="-7355750">
                <a:off x="4648864" y="4664001"/>
                <a:ext cx="472125" cy="1588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2" name="Google Shape;312;p25"/>
              <p:cNvCxnSpPr/>
              <p:nvPr/>
            </p:nvCxnSpPr>
            <p:spPr>
              <a:xfrm rot="3444250">
                <a:off x="3178650" y="4706181"/>
                <a:ext cx="801267" cy="1588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3" name="Google Shape;313;p25"/>
              <p:cNvCxnSpPr/>
              <p:nvPr/>
            </p:nvCxnSpPr>
            <p:spPr>
              <a:xfrm rot="3444250">
                <a:off x="3795896" y="4689539"/>
                <a:ext cx="380630" cy="1588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4" name="Google Shape;314;p25"/>
              <p:cNvCxnSpPr/>
              <p:nvPr/>
            </p:nvCxnSpPr>
            <p:spPr>
              <a:xfrm rot="3444250">
                <a:off x="3029508" y="5155714"/>
                <a:ext cx="425470" cy="1588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5" name="Google Shape;315;p25"/>
              <p:cNvCxnSpPr/>
              <p:nvPr/>
            </p:nvCxnSpPr>
            <p:spPr>
              <a:xfrm rot="-7355750">
                <a:off x="4098885" y="4959058"/>
                <a:ext cx="305469" cy="1588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6" name="Google Shape;316;p25"/>
              <p:cNvCxnSpPr/>
              <p:nvPr/>
            </p:nvCxnSpPr>
            <p:spPr>
              <a:xfrm rot="3444250">
                <a:off x="3465462" y="5414390"/>
                <a:ext cx="590659" cy="1589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7" name="Google Shape;317;p25"/>
              <p:cNvCxnSpPr/>
              <p:nvPr/>
            </p:nvCxnSpPr>
            <p:spPr>
              <a:xfrm rot="-7355750">
                <a:off x="3934289" y="5152621"/>
                <a:ext cx="615413" cy="1589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8" name="Google Shape;318;p25"/>
              <p:cNvCxnSpPr/>
              <p:nvPr/>
            </p:nvCxnSpPr>
            <p:spPr>
              <a:xfrm rot="-7355750">
                <a:off x="3227408" y="5442376"/>
                <a:ext cx="75618" cy="1588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9" name="Google Shape;319;p25"/>
              <p:cNvCxnSpPr/>
              <p:nvPr/>
            </p:nvCxnSpPr>
            <p:spPr>
              <a:xfrm rot="-7355750">
                <a:off x="4076523" y="4819985"/>
                <a:ext cx="75618" cy="1588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0" name="Google Shape;320;p25"/>
              <p:cNvCxnSpPr/>
              <p:nvPr/>
            </p:nvCxnSpPr>
            <p:spPr>
              <a:xfrm rot="-7355750">
                <a:off x="3477749" y="4975497"/>
                <a:ext cx="305469" cy="1588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</p:grpSp>
      <p:cxnSp>
        <p:nvCxnSpPr>
          <p:cNvPr id="321" name="Google Shape;321;p25"/>
          <p:cNvCxnSpPr/>
          <p:nvPr/>
        </p:nvCxnSpPr>
        <p:spPr>
          <a:xfrm>
            <a:off x="2641600" y="3335867"/>
            <a:ext cx="3649133" cy="2556933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6"/>
          <p:cNvSpPr txBox="1"/>
          <p:nvPr>
            <p:ph type="title"/>
          </p:nvPr>
        </p:nvSpPr>
        <p:spPr>
          <a:xfrm>
            <a:off x="457200" y="59805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/>
              <a:t>Example: Logistic Regression</a:t>
            </a:r>
            <a:endParaRPr/>
          </a:p>
        </p:txBody>
      </p:sp>
      <p:sp>
        <p:nvSpPr>
          <p:cNvPr id="328" name="Google Shape;328;p26"/>
          <p:cNvSpPr txBox="1"/>
          <p:nvPr>
            <p:ph idx="1" type="body"/>
          </p:nvPr>
        </p:nvSpPr>
        <p:spPr>
          <a:xfrm>
            <a:off x="457200" y="1951038"/>
            <a:ext cx="8229600" cy="4221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Droid Sans Mono"/>
              <a:buNone/>
            </a:pPr>
            <a:r>
              <a:rPr lang="en-US" sz="1900">
                <a:latin typeface="Droid Sans Mono"/>
                <a:ea typeface="Droid Sans Mono"/>
                <a:cs typeface="Droid Sans Mono"/>
                <a:sym typeface="Droid Sans Mono"/>
              </a:rPr>
              <a:t>val data = spark.textFile(...).</a:t>
            </a:r>
            <a:r>
              <a:rPr lang="en-US" sz="1900">
                <a:solidFill>
                  <a:srgbClr val="3366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map</a:t>
            </a:r>
            <a:r>
              <a:rPr lang="en-US" sz="1900">
                <a:latin typeface="Droid Sans Mono"/>
                <a:ea typeface="Droid Sans Mono"/>
                <a:cs typeface="Droid Sans Mono"/>
                <a:sym typeface="Droid Sans Mono"/>
              </a:rPr>
              <a:t>(</a:t>
            </a:r>
            <a:r>
              <a:rPr lang="en-US" sz="1900">
                <a:solidFill>
                  <a:srgbClr val="FF008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readPoint</a:t>
            </a:r>
            <a:r>
              <a:rPr lang="en-US" sz="1900">
                <a:latin typeface="Droid Sans Mono"/>
                <a:ea typeface="Droid Sans Mono"/>
                <a:cs typeface="Droid Sans Mono"/>
                <a:sym typeface="Droid Sans Mono"/>
              </a:rPr>
              <a:t>).</a:t>
            </a:r>
            <a:r>
              <a:rPr lang="en-US" sz="1900">
                <a:solidFill>
                  <a:srgbClr val="3366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cache</a:t>
            </a:r>
            <a:r>
              <a:rPr lang="en-US" sz="1900">
                <a:latin typeface="Droid Sans Mono"/>
                <a:ea typeface="Droid Sans Mono"/>
                <a:cs typeface="Droid Sans Mono"/>
                <a:sym typeface="Droid Sans Mono"/>
              </a:rPr>
              <a:t>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rbel"/>
              <a:buNone/>
            </a:pPr>
            <a:r>
              <a:t/>
            </a:r>
            <a:endParaRPr sz="190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Droid Sans Mono"/>
              <a:buNone/>
            </a:pPr>
            <a:r>
              <a:rPr lang="en-US" sz="1900">
                <a:latin typeface="Droid Sans Mono"/>
                <a:ea typeface="Droid Sans Mono"/>
                <a:cs typeface="Droid Sans Mono"/>
                <a:sym typeface="Droid Sans Mono"/>
              </a:rPr>
              <a:t>var w = Vector.random(D)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rbel"/>
              <a:buNone/>
            </a:pPr>
            <a:r>
              <a:t/>
            </a:r>
            <a:endParaRPr sz="190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Droid Sans Mono"/>
              <a:buNone/>
            </a:pPr>
            <a:r>
              <a:rPr lang="en-US" sz="1900">
                <a:latin typeface="Droid Sans Mono"/>
                <a:ea typeface="Droid Sans Mono"/>
                <a:cs typeface="Droid Sans Mono"/>
                <a:sym typeface="Droid Sans Mono"/>
              </a:rPr>
              <a:t>for (i &lt;- 1 to ITERATIONS)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Droid Sans Mono"/>
              <a:buNone/>
            </a:pPr>
            <a:r>
              <a:rPr lang="en-US" sz="1900">
                <a:latin typeface="Droid Sans Mono"/>
                <a:ea typeface="Droid Sans Mono"/>
                <a:cs typeface="Droid Sans Mono"/>
                <a:sym typeface="Droid Sans Mono"/>
              </a:rPr>
              <a:t>  val gradient = data.</a:t>
            </a:r>
            <a:r>
              <a:rPr lang="en-US" sz="1900">
                <a:solidFill>
                  <a:srgbClr val="3366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map</a:t>
            </a:r>
            <a:r>
              <a:rPr lang="en-US" sz="1900">
                <a:latin typeface="Droid Sans Mono"/>
                <a:ea typeface="Droid Sans Mono"/>
                <a:cs typeface="Droid Sans Mono"/>
                <a:sym typeface="Droid Sans Mono"/>
              </a:rPr>
              <a:t>(</a:t>
            </a:r>
            <a:r>
              <a:rPr lang="en-US" sz="1900">
                <a:solidFill>
                  <a:srgbClr val="FF008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p =&gt;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80"/>
              </a:buClr>
              <a:buSzPts val="1900"/>
              <a:buFont typeface="Droid Sans Mono"/>
              <a:buNone/>
            </a:pPr>
            <a:r>
              <a:rPr lang="en-US" sz="1900">
                <a:solidFill>
                  <a:srgbClr val="FF008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(1 / (1 + exp(-p.y*(w dot p.x))) - 1) * p.y * p.x</a:t>
            </a:r>
            <a:endParaRPr sz="1900">
              <a:solidFill>
                <a:srgbClr val="FF0080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80"/>
              </a:buClr>
              <a:buSzPts val="1900"/>
              <a:buFont typeface="Droid Sans Mono"/>
              <a:buNone/>
            </a:pPr>
            <a:r>
              <a:rPr lang="en-US" sz="1900">
                <a:solidFill>
                  <a:srgbClr val="FF008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</a:t>
            </a:r>
            <a:r>
              <a:rPr lang="en-US" sz="1900">
                <a:latin typeface="Droid Sans Mono"/>
                <a:ea typeface="Droid Sans Mono"/>
                <a:cs typeface="Droid Sans Mono"/>
                <a:sym typeface="Droid Sans Mono"/>
              </a:rPr>
              <a:t>).</a:t>
            </a:r>
            <a:r>
              <a:rPr lang="en-US" sz="1900">
                <a:solidFill>
                  <a:srgbClr val="3366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reduce</a:t>
            </a:r>
            <a:r>
              <a:rPr lang="en-US" sz="1900">
                <a:latin typeface="Droid Sans Mono"/>
                <a:ea typeface="Droid Sans Mono"/>
                <a:cs typeface="Droid Sans Mono"/>
                <a:sym typeface="Droid Sans Mono"/>
              </a:rPr>
              <a:t>(</a:t>
            </a:r>
            <a:r>
              <a:rPr lang="en-US" sz="1900">
                <a:solidFill>
                  <a:srgbClr val="FF008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_ + _</a:t>
            </a:r>
            <a:r>
              <a:rPr lang="en-US" sz="1900">
                <a:latin typeface="Droid Sans Mono"/>
                <a:ea typeface="Droid Sans Mono"/>
                <a:cs typeface="Droid Sans Mono"/>
                <a:sym typeface="Droid Sans Mono"/>
              </a:rPr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Droid Sans Mono"/>
              <a:buNone/>
            </a:pPr>
            <a:r>
              <a:rPr lang="en-US" sz="1900">
                <a:latin typeface="Droid Sans Mono"/>
                <a:ea typeface="Droid Sans Mono"/>
                <a:cs typeface="Droid Sans Mono"/>
                <a:sym typeface="Droid Sans Mono"/>
              </a:rPr>
              <a:t>  w -= gradient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Droid Sans Mono"/>
              <a:buNone/>
            </a:pPr>
            <a:r>
              <a:rPr lang="en-US" sz="1900">
                <a:latin typeface="Droid Sans Mono"/>
                <a:ea typeface="Droid Sans Mono"/>
                <a:cs typeface="Droid Sans Mono"/>
                <a:sym typeface="Droid Sans Mono"/>
              </a:rPr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rbel"/>
              <a:buNone/>
            </a:pPr>
            <a:r>
              <a:t/>
            </a:r>
            <a:endParaRPr sz="190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Droid Sans Mono"/>
              <a:buNone/>
            </a:pPr>
            <a:r>
              <a:rPr lang="en-US" sz="1900">
                <a:latin typeface="Droid Sans Mono"/>
                <a:ea typeface="Droid Sans Mono"/>
                <a:cs typeface="Droid Sans Mono"/>
                <a:sym typeface="Droid Sans Mono"/>
              </a:rPr>
              <a:t>println("Final w: " + w)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"/>
          <p:cNvSpPr txBox="1"/>
          <p:nvPr>
            <p:ph type="title"/>
          </p:nvPr>
        </p:nvSpPr>
        <p:spPr>
          <a:xfrm>
            <a:off x="457200" y="59805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Logistic Regression Performance</a:t>
            </a:r>
            <a:endParaRPr sz="4500"/>
          </a:p>
        </p:txBody>
      </p:sp>
      <p:pic>
        <p:nvPicPr>
          <p:cNvPr id="335" name="Google Shape;33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951038"/>
            <a:ext cx="7467600" cy="42211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6" name="Google Shape;336;p27"/>
          <p:cNvGrpSpPr/>
          <p:nvPr/>
        </p:nvGrpSpPr>
        <p:grpSpPr>
          <a:xfrm>
            <a:off x="6962681" y="2463168"/>
            <a:ext cx="1851119" cy="965833"/>
            <a:chOff x="7021694" y="2615568"/>
            <a:chExt cx="1850936" cy="965833"/>
          </a:xfrm>
        </p:grpSpPr>
        <p:cxnSp>
          <p:nvCxnSpPr>
            <p:cNvPr id="337" name="Google Shape;337;p27"/>
            <p:cNvCxnSpPr/>
            <p:nvPr/>
          </p:nvCxnSpPr>
          <p:spPr>
            <a:xfrm rot="5400000">
              <a:off x="6972455" y="3238508"/>
              <a:ext cx="533400" cy="152385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338" name="Google Shape;338;p27"/>
            <p:cNvSpPr txBox="1"/>
            <p:nvPr/>
          </p:nvSpPr>
          <p:spPr>
            <a:xfrm>
              <a:off x="7021694" y="2615568"/>
              <a:ext cx="1850936" cy="4154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127 s / iteration</a:t>
              </a:r>
              <a:endParaRPr/>
            </a:p>
          </p:txBody>
        </p:sp>
      </p:grpSp>
      <p:grpSp>
        <p:nvGrpSpPr>
          <p:cNvPr id="339" name="Google Shape;339;p27"/>
          <p:cNvGrpSpPr/>
          <p:nvPr/>
        </p:nvGrpSpPr>
        <p:grpSpPr>
          <a:xfrm>
            <a:off x="6542088" y="4267200"/>
            <a:ext cx="2525712" cy="1195388"/>
            <a:chOff x="6565901" y="4635502"/>
            <a:chExt cx="2525596" cy="1195776"/>
          </a:xfrm>
        </p:grpSpPr>
        <p:cxnSp>
          <p:nvCxnSpPr>
            <p:cNvPr id="340" name="Google Shape;340;p27"/>
            <p:cNvCxnSpPr/>
            <p:nvPr/>
          </p:nvCxnSpPr>
          <p:spPr>
            <a:xfrm flipH="1" rot="5400000">
              <a:off x="6966897" y="4784813"/>
              <a:ext cx="501813" cy="203191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341" name="Google Shape;341;p27"/>
            <p:cNvSpPr txBox="1"/>
            <p:nvPr/>
          </p:nvSpPr>
          <p:spPr>
            <a:xfrm>
              <a:off x="6565901" y="5092703"/>
              <a:ext cx="2525596" cy="738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first iteration 174 s</a:t>
              </a:r>
              <a:endParaRPr sz="21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further iterations 6 s</a:t>
              </a:r>
              <a:endParaRPr sz="21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8"/>
          <p:cNvSpPr txBox="1"/>
          <p:nvPr>
            <p:ph type="title"/>
          </p:nvPr>
        </p:nvSpPr>
        <p:spPr>
          <a:xfrm>
            <a:off x="457200" y="59805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/>
              <a:t>Spark Applications</a:t>
            </a:r>
            <a:endParaRPr sz="5500"/>
          </a:p>
        </p:txBody>
      </p:sp>
      <p:sp>
        <p:nvSpPr>
          <p:cNvPr id="347" name="Google Shape;347;p28"/>
          <p:cNvSpPr txBox="1"/>
          <p:nvPr>
            <p:ph idx="1" type="body"/>
          </p:nvPr>
        </p:nvSpPr>
        <p:spPr>
          <a:xfrm>
            <a:off x="457199" y="1951038"/>
            <a:ext cx="8328892" cy="4221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/>
              <a:t>In-memory data mining on Hive data (Conviva)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/>
              <a:t>Predictive analytics (Quantifind)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/>
              <a:t>City traffic prediction (Mobile Millennium)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/>
              <a:t>Twitter spam classification (Monarch)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/>
              <a:t>Collaborative filtering via matrix factorization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/>
              <a:t>…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9"/>
          <p:cNvSpPr txBox="1"/>
          <p:nvPr>
            <p:ph type="title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Conviva GeoReport</a:t>
            </a:r>
            <a:endParaRPr/>
          </a:p>
        </p:txBody>
      </p:sp>
      <p:sp>
        <p:nvSpPr>
          <p:cNvPr id="353" name="Google Shape;353;p29"/>
          <p:cNvSpPr txBox="1"/>
          <p:nvPr>
            <p:ph idx="1" type="body"/>
          </p:nvPr>
        </p:nvSpPr>
        <p:spPr>
          <a:xfrm>
            <a:off x="457200" y="3962400"/>
            <a:ext cx="84008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Aggregations on many keys w/ same WHERE clause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40× gain comes from:</a:t>
            </a:r>
            <a:endParaRPr/>
          </a:p>
          <a:p>
            <a:pPr indent="-228632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»"/>
            </a:pPr>
            <a:r>
              <a:rPr lang="en-US"/>
              <a:t>Not re-reading unused columns or filtered records</a:t>
            </a:r>
            <a:endParaRPr/>
          </a:p>
          <a:p>
            <a:pPr indent="-228632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»"/>
            </a:pPr>
            <a:r>
              <a:rPr lang="en-US"/>
              <a:t>Avoiding repeated decompression</a:t>
            </a:r>
            <a:endParaRPr/>
          </a:p>
          <a:p>
            <a:pPr indent="-228632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»"/>
            </a:pPr>
            <a:r>
              <a:rPr lang="en-US"/>
              <a:t>In-memory storage of deserialized objects</a:t>
            </a:r>
            <a:endParaRPr/>
          </a:p>
        </p:txBody>
      </p:sp>
      <p:pic>
        <p:nvPicPr>
          <p:cNvPr id="354" name="Google Shape;35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954" y="1607687"/>
            <a:ext cx="7228725" cy="2226328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9"/>
          <p:cNvSpPr txBox="1"/>
          <p:nvPr/>
        </p:nvSpPr>
        <p:spPr>
          <a:xfrm>
            <a:off x="7019040" y="2909110"/>
            <a:ext cx="183896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Time (hours)</a:t>
            </a:r>
            <a:endParaRPr b="1" sz="2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0"/>
          <p:cNvSpPr txBox="1"/>
          <p:nvPr>
            <p:ph type="title"/>
          </p:nvPr>
        </p:nvSpPr>
        <p:spPr>
          <a:xfrm>
            <a:off x="457200" y="59805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/>
              <a:t>Frameworks Built on Spark</a:t>
            </a:r>
            <a:endParaRPr sz="5000"/>
          </a:p>
        </p:txBody>
      </p:sp>
      <p:sp>
        <p:nvSpPr>
          <p:cNvPr id="362" name="Google Shape;362;p30"/>
          <p:cNvSpPr txBox="1"/>
          <p:nvPr>
            <p:ph idx="1" type="body"/>
          </p:nvPr>
        </p:nvSpPr>
        <p:spPr>
          <a:xfrm>
            <a:off x="457200" y="1951038"/>
            <a:ext cx="8229600" cy="4221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/>
              <a:t>Pregel on Spark (Bagel)</a:t>
            </a:r>
            <a:endParaRPr/>
          </a:p>
          <a:p>
            <a:pPr indent="-2286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</a:pPr>
            <a:r>
              <a:rPr lang="en-US"/>
              <a:t>Google message passing</a:t>
            </a:r>
            <a:br>
              <a:rPr lang="en-US"/>
            </a:br>
            <a:r>
              <a:rPr lang="en-US"/>
              <a:t>model for graph computation</a:t>
            </a:r>
            <a:endParaRPr/>
          </a:p>
          <a:p>
            <a:pPr indent="-2286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</a:pPr>
            <a:r>
              <a:rPr lang="en-US"/>
              <a:t>200 lines of code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/>
              <a:t>Hive on Spark (Shark)</a:t>
            </a:r>
            <a:endParaRPr/>
          </a:p>
          <a:p>
            <a:pPr indent="-2286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</a:pPr>
            <a:r>
              <a:rPr lang="en-US"/>
              <a:t>3000 lines of code</a:t>
            </a:r>
            <a:endParaRPr/>
          </a:p>
          <a:p>
            <a:pPr indent="-2286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</a:pPr>
            <a:r>
              <a:rPr lang="en-US"/>
              <a:t>Compatible with Apache Hive</a:t>
            </a:r>
            <a:endParaRPr/>
          </a:p>
          <a:p>
            <a:pPr indent="-2286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</a:pPr>
            <a:r>
              <a:rPr lang="en-US"/>
              <a:t>ML operators in Scala</a:t>
            </a:r>
            <a:endParaRPr/>
          </a:p>
        </p:txBody>
      </p:sp>
      <p:pic>
        <p:nvPicPr>
          <p:cNvPr id="363" name="Google Shape;363;p30"/>
          <p:cNvPicPr preferRelativeResize="0"/>
          <p:nvPr/>
        </p:nvPicPr>
        <p:blipFill rotWithShape="1">
          <a:blip r:embed="rId3">
            <a:alphaModFix/>
          </a:blip>
          <a:srcRect b="5769" l="7932" r="9572" t="0"/>
          <a:stretch/>
        </p:blipFill>
        <p:spPr>
          <a:xfrm>
            <a:off x="5963997" y="1905000"/>
            <a:ext cx="2773286" cy="19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7600" y="4127500"/>
            <a:ext cx="2315104" cy="222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1"/>
          <p:cNvSpPr txBox="1"/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</a:t>
            </a:r>
            <a:endParaRPr/>
          </a:p>
        </p:txBody>
      </p:sp>
      <p:sp>
        <p:nvSpPr>
          <p:cNvPr id="371" name="Google Shape;371;p31"/>
          <p:cNvSpPr txBox="1"/>
          <p:nvPr>
            <p:ph idx="1" type="body"/>
          </p:nvPr>
        </p:nvSpPr>
        <p:spPr>
          <a:xfrm>
            <a:off x="457199" y="2057401"/>
            <a:ext cx="419100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</a:pPr>
            <a:r>
              <a:rPr lang="en-US"/>
              <a:t>Runs on Apache Mesos to share resources with Hadoop &amp; other apps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</a:pPr>
            <a:r>
              <a:rPr lang="en-US"/>
              <a:t>Can read from any Hadoop input source (e.g. HDFS)</a:t>
            </a:r>
            <a:endParaRPr/>
          </a:p>
        </p:txBody>
      </p:sp>
      <p:grpSp>
        <p:nvGrpSpPr>
          <p:cNvPr id="372" name="Google Shape;372;p31"/>
          <p:cNvGrpSpPr/>
          <p:nvPr/>
        </p:nvGrpSpPr>
        <p:grpSpPr>
          <a:xfrm>
            <a:off x="4800600" y="2224741"/>
            <a:ext cx="3923470" cy="2205526"/>
            <a:chOff x="4631711" y="2373745"/>
            <a:chExt cx="3987956" cy="2251365"/>
          </a:xfrm>
        </p:grpSpPr>
        <p:sp>
          <p:nvSpPr>
            <p:cNvPr id="373" name="Google Shape;373;p31"/>
            <p:cNvSpPr/>
            <p:nvPr/>
          </p:nvSpPr>
          <p:spPr>
            <a:xfrm>
              <a:off x="4631711" y="2373745"/>
              <a:ext cx="1106988" cy="888923"/>
            </a:xfrm>
            <a:prstGeom prst="rect">
              <a:avLst/>
            </a:prstGeom>
            <a:gradFill>
              <a:gsLst>
                <a:gs pos="0">
                  <a:srgbClr val="7F5AAB"/>
                </a:gs>
                <a:gs pos="100000">
                  <a:srgbClr val="C7AEED"/>
                </a:gs>
              </a:gsLst>
              <a:lin ang="16200000" scaled="0"/>
            </a:gradFill>
            <a:ln cap="flat" cmpd="sng" w="9525">
              <a:solidFill>
                <a:srgbClr val="7C5F9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Spark</a:t>
              </a:r>
              <a:endParaRPr/>
            </a:p>
          </p:txBody>
        </p:sp>
        <p:sp>
          <p:nvSpPr>
            <p:cNvPr id="374" name="Google Shape;374;p31"/>
            <p:cNvSpPr/>
            <p:nvPr/>
          </p:nvSpPr>
          <p:spPr>
            <a:xfrm>
              <a:off x="5855224" y="2373745"/>
              <a:ext cx="1106988" cy="888923"/>
            </a:xfrm>
            <a:prstGeom prst="rect">
              <a:avLst/>
            </a:prstGeom>
            <a:gradFill>
              <a:gsLst>
                <a:gs pos="0">
                  <a:srgbClr val="7F5AAB"/>
                </a:gs>
                <a:gs pos="100000">
                  <a:srgbClr val="C7AEED"/>
                </a:gs>
              </a:gsLst>
              <a:lin ang="16200000" scaled="0"/>
            </a:gradFill>
            <a:ln cap="flat" cmpd="sng" w="9525">
              <a:solidFill>
                <a:srgbClr val="7C5F9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Hadoop</a:t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31"/>
            <p:cNvSpPr/>
            <p:nvPr/>
          </p:nvSpPr>
          <p:spPr>
            <a:xfrm>
              <a:off x="7078738" y="2373745"/>
              <a:ext cx="1106988" cy="888923"/>
            </a:xfrm>
            <a:prstGeom prst="rect">
              <a:avLst/>
            </a:prstGeom>
            <a:gradFill>
              <a:gsLst>
                <a:gs pos="0">
                  <a:srgbClr val="7F5AAB"/>
                </a:gs>
                <a:gs pos="100000">
                  <a:srgbClr val="C7AEED"/>
                </a:gs>
              </a:gsLst>
              <a:lin ang="16200000" scaled="0"/>
            </a:gradFill>
            <a:ln cap="flat" cmpd="sng" w="9525">
              <a:solidFill>
                <a:srgbClr val="7C5F9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MPI</a:t>
              </a:r>
              <a:endParaRPr sz="2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31"/>
            <p:cNvSpPr/>
            <p:nvPr/>
          </p:nvSpPr>
          <p:spPr>
            <a:xfrm>
              <a:off x="4631712" y="3386297"/>
              <a:ext cx="3923470" cy="557592"/>
            </a:xfrm>
            <a:prstGeom prst="rect">
              <a:avLst/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Mesos</a:t>
              </a:r>
              <a:endParaRPr sz="2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31"/>
            <p:cNvSpPr/>
            <p:nvPr/>
          </p:nvSpPr>
          <p:spPr>
            <a:xfrm>
              <a:off x="4631712" y="4067518"/>
              <a:ext cx="894827" cy="557592"/>
            </a:xfrm>
            <a:prstGeom prst="rect">
              <a:avLst/>
            </a:prstGeom>
            <a:gradFill>
              <a:gsLst>
                <a:gs pos="0">
                  <a:srgbClr val="D13F3B"/>
                </a:gs>
                <a:gs pos="100000">
                  <a:srgbClr val="FF9995"/>
                </a:gs>
              </a:gsLst>
              <a:lin ang="16200000" scaled="0"/>
            </a:gradFill>
            <a:ln cap="flat" cmpd="sng" w="9525">
              <a:solidFill>
                <a:srgbClr val="BD4B4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Node</a:t>
              </a:r>
              <a:endParaRPr sz="2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31"/>
            <p:cNvSpPr/>
            <p:nvPr/>
          </p:nvSpPr>
          <p:spPr>
            <a:xfrm>
              <a:off x="5641259" y="4067518"/>
              <a:ext cx="894827" cy="557592"/>
            </a:xfrm>
            <a:prstGeom prst="rect">
              <a:avLst/>
            </a:prstGeom>
            <a:gradFill>
              <a:gsLst>
                <a:gs pos="0">
                  <a:srgbClr val="D13F3B"/>
                </a:gs>
                <a:gs pos="100000">
                  <a:srgbClr val="FF9995"/>
                </a:gs>
              </a:gsLst>
              <a:lin ang="16200000" scaled="0"/>
            </a:gradFill>
            <a:ln cap="flat" cmpd="sng" w="9525">
              <a:solidFill>
                <a:srgbClr val="BD4B4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Node</a:t>
              </a:r>
              <a:endParaRPr sz="2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31"/>
            <p:cNvSpPr/>
            <p:nvPr/>
          </p:nvSpPr>
          <p:spPr>
            <a:xfrm>
              <a:off x="6650808" y="4067518"/>
              <a:ext cx="894827" cy="557592"/>
            </a:xfrm>
            <a:prstGeom prst="rect">
              <a:avLst/>
            </a:prstGeom>
            <a:gradFill>
              <a:gsLst>
                <a:gs pos="0">
                  <a:srgbClr val="D13F3B"/>
                </a:gs>
                <a:gs pos="100000">
                  <a:srgbClr val="FF9995"/>
                </a:gs>
              </a:gsLst>
              <a:lin ang="16200000" scaled="0"/>
            </a:gradFill>
            <a:ln cap="flat" cmpd="sng" w="9525">
              <a:solidFill>
                <a:srgbClr val="BD4B4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Node</a:t>
              </a:r>
              <a:endParaRPr sz="2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31"/>
            <p:cNvSpPr/>
            <p:nvPr/>
          </p:nvSpPr>
          <p:spPr>
            <a:xfrm>
              <a:off x="7660355" y="4067518"/>
              <a:ext cx="894827" cy="557592"/>
            </a:xfrm>
            <a:prstGeom prst="rect">
              <a:avLst/>
            </a:prstGeom>
            <a:gradFill>
              <a:gsLst>
                <a:gs pos="0">
                  <a:srgbClr val="D13F3B"/>
                </a:gs>
                <a:gs pos="100000">
                  <a:srgbClr val="FF9995"/>
                </a:gs>
              </a:gsLst>
              <a:lin ang="16200000" scaled="0"/>
            </a:gradFill>
            <a:ln cap="flat" cmpd="sng" w="9525">
              <a:solidFill>
                <a:srgbClr val="BD4B4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Node</a:t>
              </a:r>
              <a:endParaRPr sz="2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31"/>
            <p:cNvSpPr txBox="1"/>
            <p:nvPr/>
          </p:nvSpPr>
          <p:spPr>
            <a:xfrm>
              <a:off x="8164945" y="2891135"/>
              <a:ext cx="4547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accent4"/>
                  </a:solidFill>
                  <a:latin typeface="Corbel"/>
                  <a:ea typeface="Corbel"/>
                  <a:cs typeface="Corbel"/>
                  <a:sym typeface="Corbel"/>
                </a:rPr>
                <a:t>…</a:t>
              </a:r>
              <a:endParaRPr b="1" sz="2400">
                <a:solidFill>
                  <a:schemeClr val="accent4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382" name="Google Shape;382;p31"/>
          <p:cNvSpPr txBox="1"/>
          <p:nvPr>
            <p:ph idx="1" type="body"/>
          </p:nvPr>
        </p:nvSpPr>
        <p:spPr>
          <a:xfrm>
            <a:off x="451439" y="4699410"/>
            <a:ext cx="8198945" cy="1144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</a:pPr>
            <a:r>
              <a:rPr lang="en-US"/>
              <a:t>No changes to Scala compiler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2"/>
          <p:cNvSpPr txBox="1"/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Spark Scheduler</a:t>
            </a:r>
            <a:endParaRPr/>
          </a:p>
        </p:txBody>
      </p:sp>
      <p:sp>
        <p:nvSpPr>
          <p:cNvPr id="389" name="Google Shape;389;p32"/>
          <p:cNvSpPr txBox="1"/>
          <p:nvPr>
            <p:ph idx="1" type="body"/>
          </p:nvPr>
        </p:nvSpPr>
        <p:spPr>
          <a:xfrm>
            <a:off x="457201" y="1981200"/>
            <a:ext cx="3646178" cy="4304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orbel"/>
              <a:buNone/>
            </a:pPr>
            <a:r>
              <a:rPr lang="en-US" sz="2700"/>
              <a:t>Dryad-like DAGs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orbel"/>
              <a:buNone/>
            </a:pPr>
            <a:r>
              <a:rPr lang="en-US" sz="2700"/>
              <a:t>Pipelines functions</a:t>
            </a:r>
            <a:br>
              <a:rPr lang="en-US" sz="2700"/>
            </a:br>
            <a:r>
              <a:rPr lang="en-US" sz="2700"/>
              <a:t>within a stage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orbel"/>
              <a:buNone/>
            </a:pPr>
            <a:r>
              <a:rPr lang="en-US" sz="2700"/>
              <a:t>Cache-aware work</a:t>
            </a:r>
            <a:br>
              <a:rPr lang="en-US" sz="2700"/>
            </a:br>
            <a:r>
              <a:rPr lang="en-US" sz="2700"/>
              <a:t>reuse &amp; locality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orbel"/>
              <a:buNone/>
            </a:pPr>
            <a:r>
              <a:rPr lang="en-US" sz="2700"/>
              <a:t>Partitioning-aware</a:t>
            </a:r>
            <a:br>
              <a:rPr lang="en-US" sz="2700"/>
            </a:br>
            <a:r>
              <a:rPr lang="en-US" sz="2700"/>
              <a:t>to avoid shuffles</a:t>
            </a:r>
            <a:endParaRPr/>
          </a:p>
        </p:txBody>
      </p:sp>
      <p:grpSp>
        <p:nvGrpSpPr>
          <p:cNvPr id="390" name="Google Shape;390;p32"/>
          <p:cNvGrpSpPr/>
          <p:nvPr/>
        </p:nvGrpSpPr>
        <p:grpSpPr>
          <a:xfrm>
            <a:off x="3392904" y="2044032"/>
            <a:ext cx="5465572" cy="3797969"/>
            <a:chOff x="3259082" y="2018851"/>
            <a:chExt cx="5656318" cy="3924749"/>
          </a:xfrm>
        </p:grpSpPr>
        <p:sp>
          <p:nvSpPr>
            <p:cNvPr id="391" name="Google Shape;391;p32"/>
            <p:cNvSpPr/>
            <p:nvPr/>
          </p:nvSpPr>
          <p:spPr>
            <a:xfrm>
              <a:off x="3259082" y="2018851"/>
              <a:ext cx="5656318" cy="3924749"/>
            </a:xfrm>
            <a:prstGeom prst="roundRect">
              <a:avLst>
                <a:gd fmla="val 11363" name="adj"/>
              </a:avLst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2" name="Google Shape;392;p32"/>
            <p:cNvSpPr/>
            <p:nvPr/>
          </p:nvSpPr>
          <p:spPr>
            <a:xfrm>
              <a:off x="3423812" y="2166746"/>
              <a:ext cx="1828800" cy="1381095"/>
            </a:xfrm>
            <a:prstGeom prst="roundRect">
              <a:avLst>
                <a:gd fmla="val 16667" name="adj"/>
              </a:avLst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3" name="Google Shape;393;p32"/>
            <p:cNvSpPr/>
            <p:nvPr/>
          </p:nvSpPr>
          <p:spPr>
            <a:xfrm>
              <a:off x="3423812" y="3726445"/>
              <a:ext cx="3901060" cy="2074855"/>
            </a:xfrm>
            <a:prstGeom prst="roundRect">
              <a:avLst>
                <a:gd fmla="val 16667" name="adj"/>
              </a:avLst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4" name="Google Shape;394;p32"/>
            <p:cNvSpPr/>
            <p:nvPr/>
          </p:nvSpPr>
          <p:spPr>
            <a:xfrm>
              <a:off x="5039626" y="3878162"/>
              <a:ext cx="591825" cy="803593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54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5" name="Google Shape;395;p32"/>
            <p:cNvSpPr/>
            <p:nvPr/>
          </p:nvSpPr>
          <p:spPr>
            <a:xfrm>
              <a:off x="5133256" y="3959064"/>
              <a:ext cx="406879" cy="264773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6" name="Google Shape;396;p32"/>
            <p:cNvSpPr/>
            <p:nvPr/>
          </p:nvSpPr>
          <p:spPr>
            <a:xfrm>
              <a:off x="5133256" y="4322645"/>
              <a:ext cx="406879" cy="264773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7" name="Google Shape;397;p32"/>
            <p:cNvSpPr/>
            <p:nvPr/>
          </p:nvSpPr>
          <p:spPr>
            <a:xfrm>
              <a:off x="5045232" y="4839070"/>
              <a:ext cx="586220" cy="803593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54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8" name="Google Shape;398;p32"/>
            <p:cNvSpPr/>
            <p:nvPr/>
          </p:nvSpPr>
          <p:spPr>
            <a:xfrm>
              <a:off x="5138861" y="4919972"/>
              <a:ext cx="406879" cy="264773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9" name="Google Shape;399;p32"/>
            <p:cNvSpPr/>
            <p:nvPr/>
          </p:nvSpPr>
          <p:spPr>
            <a:xfrm>
              <a:off x="5138861" y="5283553"/>
              <a:ext cx="406879" cy="264773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000000"/>
                </a:gs>
              </a:gsLst>
              <a:lin ang="162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0" name="Google Shape;400;p32"/>
            <p:cNvSpPr/>
            <p:nvPr/>
          </p:nvSpPr>
          <p:spPr>
            <a:xfrm>
              <a:off x="6387251" y="3963700"/>
              <a:ext cx="591825" cy="1528842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54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1" name="Google Shape;401;p32"/>
            <p:cNvSpPr/>
            <p:nvPr/>
          </p:nvSpPr>
          <p:spPr>
            <a:xfrm>
              <a:off x="6480881" y="4044600"/>
              <a:ext cx="406879" cy="264773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2" name="Google Shape;402;p32"/>
            <p:cNvSpPr/>
            <p:nvPr/>
          </p:nvSpPr>
          <p:spPr>
            <a:xfrm>
              <a:off x="6480881" y="4408182"/>
              <a:ext cx="406879" cy="264773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3" name="Google Shape;403;p32"/>
            <p:cNvSpPr/>
            <p:nvPr/>
          </p:nvSpPr>
          <p:spPr>
            <a:xfrm>
              <a:off x="6480881" y="4767922"/>
              <a:ext cx="406879" cy="264773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4" name="Google Shape;404;p32"/>
            <p:cNvSpPr/>
            <p:nvPr/>
          </p:nvSpPr>
          <p:spPr>
            <a:xfrm>
              <a:off x="6480881" y="5131504"/>
              <a:ext cx="406879" cy="264773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5" name="Google Shape;405;p32"/>
            <p:cNvSpPr/>
            <p:nvPr/>
          </p:nvSpPr>
          <p:spPr>
            <a:xfrm>
              <a:off x="4479781" y="2272884"/>
              <a:ext cx="591825" cy="1149898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54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6" name="Google Shape;406;p32"/>
            <p:cNvSpPr/>
            <p:nvPr/>
          </p:nvSpPr>
          <p:spPr>
            <a:xfrm>
              <a:off x="4573411" y="2353785"/>
              <a:ext cx="406879" cy="264773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7" name="Google Shape;407;p32"/>
            <p:cNvSpPr/>
            <p:nvPr/>
          </p:nvSpPr>
          <p:spPr>
            <a:xfrm>
              <a:off x="4573411" y="2717367"/>
              <a:ext cx="406879" cy="264773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8" name="Google Shape;408;p32"/>
            <p:cNvSpPr/>
            <p:nvPr/>
          </p:nvSpPr>
          <p:spPr>
            <a:xfrm>
              <a:off x="4573411" y="3063041"/>
              <a:ext cx="406879" cy="264773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9" name="Google Shape;409;p32"/>
            <p:cNvSpPr/>
            <p:nvPr/>
          </p:nvSpPr>
          <p:spPr>
            <a:xfrm>
              <a:off x="6387251" y="2278969"/>
              <a:ext cx="591825" cy="1149898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54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0" name="Google Shape;410;p32"/>
            <p:cNvSpPr/>
            <p:nvPr/>
          </p:nvSpPr>
          <p:spPr>
            <a:xfrm>
              <a:off x="6480881" y="2359870"/>
              <a:ext cx="406879" cy="264773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000000"/>
                </a:gs>
              </a:gsLst>
              <a:lin ang="162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1" name="Google Shape;411;p32"/>
            <p:cNvSpPr/>
            <p:nvPr/>
          </p:nvSpPr>
          <p:spPr>
            <a:xfrm>
              <a:off x="6480881" y="2723452"/>
              <a:ext cx="406879" cy="264773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000000"/>
                </a:gs>
              </a:gsLst>
              <a:lin ang="162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2" name="Google Shape;412;p32"/>
            <p:cNvSpPr/>
            <p:nvPr/>
          </p:nvSpPr>
          <p:spPr>
            <a:xfrm>
              <a:off x="6480881" y="3069126"/>
              <a:ext cx="406879" cy="264773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000000"/>
                </a:gs>
              </a:gsLst>
              <a:lin ang="162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3" name="Google Shape;413;p32"/>
            <p:cNvSpPr/>
            <p:nvPr/>
          </p:nvSpPr>
          <p:spPr>
            <a:xfrm>
              <a:off x="8156030" y="3225190"/>
              <a:ext cx="591825" cy="1149898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54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4" name="Google Shape;414;p32"/>
            <p:cNvSpPr/>
            <p:nvPr/>
          </p:nvSpPr>
          <p:spPr>
            <a:xfrm>
              <a:off x="8249660" y="3306092"/>
              <a:ext cx="406879" cy="264773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5" name="Google Shape;415;p32"/>
            <p:cNvSpPr/>
            <p:nvPr/>
          </p:nvSpPr>
          <p:spPr>
            <a:xfrm>
              <a:off x="8249660" y="3669674"/>
              <a:ext cx="406879" cy="264773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6" name="Google Shape;416;p32"/>
            <p:cNvSpPr/>
            <p:nvPr/>
          </p:nvSpPr>
          <p:spPr>
            <a:xfrm>
              <a:off x="8249660" y="4015348"/>
              <a:ext cx="406879" cy="264773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417" name="Google Shape;417;p32"/>
            <p:cNvCxnSpPr>
              <a:stCxn id="410" idx="3"/>
              <a:endCxn id="414" idx="1"/>
            </p:cNvCxnSpPr>
            <p:nvPr/>
          </p:nvCxnSpPr>
          <p:spPr>
            <a:xfrm>
              <a:off x="6887760" y="2492256"/>
              <a:ext cx="1362000" cy="9462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18" name="Google Shape;418;p32"/>
            <p:cNvCxnSpPr>
              <a:stCxn id="411" idx="3"/>
              <a:endCxn id="415" idx="1"/>
            </p:cNvCxnSpPr>
            <p:nvPr/>
          </p:nvCxnSpPr>
          <p:spPr>
            <a:xfrm>
              <a:off x="6887760" y="2855838"/>
              <a:ext cx="1362000" cy="9462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19" name="Google Shape;419;p32"/>
            <p:cNvCxnSpPr>
              <a:stCxn id="412" idx="3"/>
              <a:endCxn id="416" idx="1"/>
            </p:cNvCxnSpPr>
            <p:nvPr/>
          </p:nvCxnSpPr>
          <p:spPr>
            <a:xfrm>
              <a:off x="6887760" y="3201513"/>
              <a:ext cx="1362000" cy="9462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0" name="Google Shape;420;p32"/>
            <p:cNvCxnSpPr>
              <a:stCxn id="407" idx="3"/>
              <a:endCxn id="411" idx="1"/>
            </p:cNvCxnSpPr>
            <p:nvPr/>
          </p:nvCxnSpPr>
          <p:spPr>
            <a:xfrm>
              <a:off x="4980290" y="2849754"/>
              <a:ext cx="1500600" cy="60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1" name="Google Shape;421;p32"/>
            <p:cNvCxnSpPr>
              <a:stCxn id="406" idx="3"/>
              <a:endCxn id="410" idx="1"/>
            </p:cNvCxnSpPr>
            <p:nvPr/>
          </p:nvCxnSpPr>
          <p:spPr>
            <a:xfrm>
              <a:off x="4980290" y="2486172"/>
              <a:ext cx="1500600" cy="60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2" name="Google Shape;422;p32"/>
            <p:cNvCxnSpPr>
              <a:stCxn id="396" idx="3"/>
              <a:endCxn id="402" idx="1"/>
            </p:cNvCxnSpPr>
            <p:nvPr/>
          </p:nvCxnSpPr>
          <p:spPr>
            <a:xfrm>
              <a:off x="5540135" y="4455032"/>
              <a:ext cx="940800" cy="855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3" name="Google Shape;423;p32"/>
            <p:cNvCxnSpPr>
              <a:stCxn id="401" idx="3"/>
              <a:endCxn id="414" idx="1"/>
            </p:cNvCxnSpPr>
            <p:nvPr/>
          </p:nvCxnSpPr>
          <p:spPr>
            <a:xfrm flipH="1" rot="10800000">
              <a:off x="6887760" y="3438387"/>
              <a:ext cx="1362000" cy="7386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4" name="Google Shape;424;p32"/>
            <p:cNvCxnSpPr>
              <a:stCxn id="408" idx="3"/>
              <a:endCxn id="412" idx="1"/>
            </p:cNvCxnSpPr>
            <p:nvPr/>
          </p:nvCxnSpPr>
          <p:spPr>
            <a:xfrm>
              <a:off x="4980290" y="3195428"/>
              <a:ext cx="1500600" cy="60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5" name="Google Shape;425;p32"/>
            <p:cNvCxnSpPr>
              <a:stCxn id="403" idx="3"/>
              <a:endCxn id="414" idx="1"/>
            </p:cNvCxnSpPr>
            <p:nvPr/>
          </p:nvCxnSpPr>
          <p:spPr>
            <a:xfrm flipH="1" rot="10800000">
              <a:off x="6887760" y="3438409"/>
              <a:ext cx="1362000" cy="14619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6" name="Google Shape;426;p32"/>
            <p:cNvCxnSpPr>
              <a:stCxn id="395" idx="3"/>
              <a:endCxn id="401" idx="1"/>
            </p:cNvCxnSpPr>
            <p:nvPr/>
          </p:nvCxnSpPr>
          <p:spPr>
            <a:xfrm>
              <a:off x="5540135" y="4091451"/>
              <a:ext cx="940800" cy="855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7" name="Google Shape;427;p32"/>
            <p:cNvCxnSpPr>
              <a:stCxn id="398" idx="3"/>
              <a:endCxn id="403" idx="1"/>
            </p:cNvCxnSpPr>
            <p:nvPr/>
          </p:nvCxnSpPr>
          <p:spPr>
            <a:xfrm flipH="1" rot="10800000">
              <a:off x="5545740" y="4900259"/>
              <a:ext cx="935100" cy="1521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8" name="Google Shape;428;p32"/>
            <p:cNvCxnSpPr>
              <a:stCxn id="399" idx="3"/>
              <a:endCxn id="404" idx="1"/>
            </p:cNvCxnSpPr>
            <p:nvPr/>
          </p:nvCxnSpPr>
          <p:spPr>
            <a:xfrm flipH="1" rot="10800000">
              <a:off x="5545740" y="5263840"/>
              <a:ext cx="935100" cy="1521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9" name="Google Shape;429;p32"/>
            <p:cNvCxnSpPr>
              <a:stCxn id="401" idx="3"/>
              <a:endCxn id="415" idx="1"/>
            </p:cNvCxnSpPr>
            <p:nvPr/>
          </p:nvCxnSpPr>
          <p:spPr>
            <a:xfrm flipH="1" rot="10800000">
              <a:off x="6887760" y="3801987"/>
              <a:ext cx="1362000" cy="3750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30" name="Google Shape;430;p32"/>
            <p:cNvCxnSpPr>
              <a:stCxn id="402" idx="3"/>
              <a:endCxn id="415" idx="1"/>
            </p:cNvCxnSpPr>
            <p:nvPr/>
          </p:nvCxnSpPr>
          <p:spPr>
            <a:xfrm flipH="1" rot="10800000">
              <a:off x="6887760" y="3801969"/>
              <a:ext cx="1362000" cy="7386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31" name="Google Shape;431;p32"/>
            <p:cNvCxnSpPr>
              <a:stCxn id="403" idx="3"/>
              <a:endCxn id="415" idx="1"/>
            </p:cNvCxnSpPr>
            <p:nvPr/>
          </p:nvCxnSpPr>
          <p:spPr>
            <a:xfrm flipH="1" rot="10800000">
              <a:off x="6887760" y="3802009"/>
              <a:ext cx="1362000" cy="10983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32" name="Google Shape;432;p32"/>
            <p:cNvCxnSpPr>
              <a:stCxn id="404" idx="3"/>
              <a:endCxn id="415" idx="1"/>
            </p:cNvCxnSpPr>
            <p:nvPr/>
          </p:nvCxnSpPr>
          <p:spPr>
            <a:xfrm flipH="1" rot="10800000">
              <a:off x="6887760" y="3801991"/>
              <a:ext cx="1362000" cy="14619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33" name="Google Shape;433;p32"/>
            <p:cNvCxnSpPr>
              <a:stCxn id="402" idx="3"/>
              <a:endCxn id="414" idx="1"/>
            </p:cNvCxnSpPr>
            <p:nvPr/>
          </p:nvCxnSpPr>
          <p:spPr>
            <a:xfrm flipH="1" rot="10800000">
              <a:off x="6887760" y="3438368"/>
              <a:ext cx="1362000" cy="11022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34" name="Google Shape;434;p32"/>
            <p:cNvCxnSpPr>
              <a:stCxn id="407" idx="3"/>
              <a:endCxn id="412" idx="1"/>
            </p:cNvCxnSpPr>
            <p:nvPr/>
          </p:nvCxnSpPr>
          <p:spPr>
            <a:xfrm>
              <a:off x="4980290" y="2849754"/>
              <a:ext cx="1500600" cy="3519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35" name="Google Shape;435;p32"/>
            <p:cNvCxnSpPr>
              <a:stCxn id="407" idx="3"/>
              <a:endCxn id="410" idx="1"/>
            </p:cNvCxnSpPr>
            <p:nvPr/>
          </p:nvCxnSpPr>
          <p:spPr>
            <a:xfrm flipH="1" rot="10800000">
              <a:off x="4980290" y="2492154"/>
              <a:ext cx="1500600" cy="3576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36" name="Google Shape;436;p32"/>
            <p:cNvCxnSpPr>
              <a:stCxn id="408" idx="3"/>
              <a:endCxn id="411" idx="1"/>
            </p:cNvCxnSpPr>
            <p:nvPr/>
          </p:nvCxnSpPr>
          <p:spPr>
            <a:xfrm flipH="1" rot="10800000">
              <a:off x="4980290" y="2855828"/>
              <a:ext cx="1500600" cy="3396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37" name="Google Shape;437;p32"/>
            <p:cNvCxnSpPr>
              <a:stCxn id="406" idx="3"/>
              <a:endCxn id="412" idx="1"/>
            </p:cNvCxnSpPr>
            <p:nvPr/>
          </p:nvCxnSpPr>
          <p:spPr>
            <a:xfrm>
              <a:off x="4980290" y="2486172"/>
              <a:ext cx="1500600" cy="7152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38" name="Google Shape;438;p32"/>
            <p:cNvCxnSpPr>
              <a:stCxn id="404" idx="3"/>
              <a:endCxn id="414" idx="1"/>
            </p:cNvCxnSpPr>
            <p:nvPr/>
          </p:nvCxnSpPr>
          <p:spPr>
            <a:xfrm flipH="1" rot="10800000">
              <a:off x="6887760" y="3438391"/>
              <a:ext cx="1362000" cy="18255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39" name="Google Shape;439;p32"/>
            <p:cNvCxnSpPr>
              <a:stCxn id="401" idx="3"/>
              <a:endCxn id="416" idx="1"/>
            </p:cNvCxnSpPr>
            <p:nvPr/>
          </p:nvCxnSpPr>
          <p:spPr>
            <a:xfrm flipH="1" rot="10800000">
              <a:off x="6887760" y="4147587"/>
              <a:ext cx="1362000" cy="294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40" name="Google Shape;440;p32"/>
            <p:cNvCxnSpPr>
              <a:stCxn id="402" idx="3"/>
              <a:endCxn id="416" idx="1"/>
            </p:cNvCxnSpPr>
            <p:nvPr/>
          </p:nvCxnSpPr>
          <p:spPr>
            <a:xfrm flipH="1" rot="10800000">
              <a:off x="6887760" y="4147869"/>
              <a:ext cx="1362000" cy="3927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41" name="Google Shape;441;p32"/>
            <p:cNvCxnSpPr>
              <a:stCxn id="403" idx="3"/>
              <a:endCxn id="416" idx="1"/>
            </p:cNvCxnSpPr>
            <p:nvPr/>
          </p:nvCxnSpPr>
          <p:spPr>
            <a:xfrm flipH="1" rot="10800000">
              <a:off x="6887760" y="4147609"/>
              <a:ext cx="1362000" cy="7527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42" name="Google Shape;442;p32"/>
            <p:cNvCxnSpPr>
              <a:stCxn id="404" idx="3"/>
              <a:endCxn id="416" idx="1"/>
            </p:cNvCxnSpPr>
            <p:nvPr/>
          </p:nvCxnSpPr>
          <p:spPr>
            <a:xfrm flipH="1" rot="10800000">
              <a:off x="6887760" y="4147591"/>
              <a:ext cx="1362000" cy="11163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43" name="Google Shape;443;p32"/>
            <p:cNvSpPr txBox="1"/>
            <p:nvPr/>
          </p:nvSpPr>
          <p:spPr>
            <a:xfrm>
              <a:off x="7472829" y="4745405"/>
              <a:ext cx="570764" cy="368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rbe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rPr>
                <a:t>join</a:t>
              </a:r>
              <a:endParaRPr b="0" i="0" sz="1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4" name="Google Shape;444;p32"/>
            <p:cNvSpPr txBox="1"/>
            <p:nvPr/>
          </p:nvSpPr>
          <p:spPr>
            <a:xfrm>
              <a:off x="5664808" y="5398364"/>
              <a:ext cx="749489" cy="368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rbe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rPr>
                <a:t>union</a:t>
              </a:r>
              <a:endParaRPr b="0" i="0" sz="1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5" name="Google Shape;445;p32"/>
            <p:cNvSpPr txBox="1"/>
            <p:nvPr/>
          </p:nvSpPr>
          <p:spPr>
            <a:xfrm>
              <a:off x="5273881" y="3209701"/>
              <a:ext cx="1032003" cy="368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rbe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rPr>
                <a:t>groupBy</a:t>
              </a:r>
              <a:endParaRPr b="0" i="0" sz="1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446" name="Google Shape;446;p32"/>
            <p:cNvCxnSpPr>
              <a:stCxn id="408" idx="3"/>
              <a:endCxn id="410" idx="1"/>
            </p:cNvCxnSpPr>
            <p:nvPr/>
          </p:nvCxnSpPr>
          <p:spPr>
            <a:xfrm flipH="1" rot="10800000">
              <a:off x="4980290" y="2492228"/>
              <a:ext cx="1500600" cy="7032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47" name="Google Shape;447;p32"/>
            <p:cNvCxnSpPr>
              <a:stCxn id="406" idx="3"/>
              <a:endCxn id="411" idx="1"/>
            </p:cNvCxnSpPr>
            <p:nvPr/>
          </p:nvCxnSpPr>
          <p:spPr>
            <a:xfrm>
              <a:off x="4980290" y="2486172"/>
              <a:ext cx="1500600" cy="3696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48" name="Google Shape;448;p32"/>
            <p:cNvSpPr/>
            <p:nvPr/>
          </p:nvSpPr>
          <p:spPr>
            <a:xfrm>
              <a:off x="3810358" y="3878162"/>
              <a:ext cx="591825" cy="803593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54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9" name="Google Shape;449;p32"/>
            <p:cNvSpPr/>
            <p:nvPr/>
          </p:nvSpPr>
          <p:spPr>
            <a:xfrm>
              <a:off x="3903988" y="3959064"/>
              <a:ext cx="406879" cy="264773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0" name="Google Shape;450;p32"/>
            <p:cNvSpPr/>
            <p:nvPr/>
          </p:nvSpPr>
          <p:spPr>
            <a:xfrm>
              <a:off x="3903988" y="4322645"/>
              <a:ext cx="406879" cy="264773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3E7FCD"/>
                </a:gs>
                <a:gs pos="100000">
                  <a:srgbClr val="96C0FF"/>
                </a:gs>
              </a:gsLst>
              <a:lin ang="16200000" scaled="0"/>
            </a:gradFill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451" name="Google Shape;451;p32"/>
            <p:cNvCxnSpPr>
              <a:stCxn id="449" idx="3"/>
              <a:endCxn id="395" idx="1"/>
            </p:cNvCxnSpPr>
            <p:nvPr/>
          </p:nvCxnSpPr>
          <p:spPr>
            <a:xfrm>
              <a:off x="4310867" y="4091451"/>
              <a:ext cx="8223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52" name="Google Shape;452;p32"/>
            <p:cNvCxnSpPr>
              <a:stCxn id="450" idx="3"/>
              <a:endCxn id="396" idx="1"/>
            </p:cNvCxnSpPr>
            <p:nvPr/>
          </p:nvCxnSpPr>
          <p:spPr>
            <a:xfrm>
              <a:off x="4310867" y="4455032"/>
              <a:ext cx="8223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53" name="Google Shape;453;p32"/>
            <p:cNvSpPr txBox="1"/>
            <p:nvPr/>
          </p:nvSpPr>
          <p:spPr>
            <a:xfrm>
              <a:off x="4403449" y="4431457"/>
              <a:ext cx="632844" cy="368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rbe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rPr>
                <a:t>map</a:t>
              </a:r>
              <a:endParaRPr b="0" i="0" sz="1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4" name="Google Shape;454;p32"/>
            <p:cNvSpPr txBox="1"/>
            <p:nvPr/>
          </p:nvSpPr>
          <p:spPr>
            <a:xfrm>
              <a:off x="7804438" y="5449542"/>
              <a:ext cx="924573" cy="368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rbe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rPr>
                <a:t>Stage 3</a:t>
              </a:r>
              <a:endParaRPr b="0" i="0" sz="1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5" name="Google Shape;455;p32"/>
            <p:cNvSpPr txBox="1"/>
            <p:nvPr/>
          </p:nvSpPr>
          <p:spPr>
            <a:xfrm>
              <a:off x="3514985" y="3139672"/>
              <a:ext cx="923407" cy="368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rbe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rPr>
                <a:t>Stage 1</a:t>
              </a:r>
              <a:endParaRPr b="0" i="0" sz="1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6" name="Google Shape;456;p32"/>
            <p:cNvSpPr txBox="1"/>
            <p:nvPr/>
          </p:nvSpPr>
          <p:spPr>
            <a:xfrm>
              <a:off x="3586392" y="5373619"/>
              <a:ext cx="938337" cy="368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rbe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rPr>
                <a:t>Stage 2</a:t>
              </a:r>
              <a:endParaRPr b="0" i="0" sz="1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7" name="Google Shape;457;p32"/>
            <p:cNvSpPr txBox="1"/>
            <p:nvPr/>
          </p:nvSpPr>
          <p:spPr>
            <a:xfrm>
              <a:off x="4112956" y="2157765"/>
              <a:ext cx="405970" cy="368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F81BD"/>
                </a:buClr>
                <a:buSzPts val="1800"/>
                <a:buFont typeface="Corbel"/>
                <a:buNone/>
              </a:pPr>
              <a:r>
                <a:rPr b="0" i="0" lang="en-US" sz="1800" u="none" cap="none" strike="noStrike">
                  <a:solidFill>
                    <a:srgbClr val="4F81BD"/>
                  </a:solidFill>
                  <a:latin typeface="Corbel"/>
                  <a:ea typeface="Corbel"/>
                  <a:cs typeface="Corbel"/>
                  <a:sym typeface="Corbel"/>
                </a:rPr>
                <a:t>A:</a:t>
              </a:r>
              <a:endParaRPr b="0" i="0" sz="1800" u="none" cap="none" strike="noStrike">
                <a:solidFill>
                  <a:srgbClr val="4F81BD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8" name="Google Shape;458;p32"/>
            <p:cNvSpPr txBox="1"/>
            <p:nvPr/>
          </p:nvSpPr>
          <p:spPr>
            <a:xfrm>
              <a:off x="5996325" y="2106542"/>
              <a:ext cx="395939" cy="368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F81BD"/>
                </a:buClr>
                <a:buSzPts val="1800"/>
                <a:buFont typeface="Corbel"/>
                <a:buNone/>
              </a:pPr>
              <a:r>
                <a:rPr b="0" i="0" lang="en-US" sz="1800" u="none" cap="none" strike="noStrike">
                  <a:solidFill>
                    <a:srgbClr val="4F81BD"/>
                  </a:solidFill>
                  <a:latin typeface="Corbel"/>
                  <a:ea typeface="Corbel"/>
                  <a:cs typeface="Corbel"/>
                  <a:sym typeface="Corbel"/>
                </a:rPr>
                <a:t>B:</a:t>
              </a:r>
              <a:endParaRPr b="0" i="0" sz="1800" u="none" cap="none" strike="noStrike">
                <a:solidFill>
                  <a:srgbClr val="4F81BD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9" name="Google Shape;459;p32"/>
            <p:cNvSpPr txBox="1"/>
            <p:nvPr/>
          </p:nvSpPr>
          <p:spPr>
            <a:xfrm>
              <a:off x="3447786" y="3802881"/>
              <a:ext cx="395006" cy="368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F81BD"/>
                </a:buClr>
                <a:buSzPts val="1800"/>
                <a:buFont typeface="Corbel"/>
                <a:buNone/>
              </a:pPr>
              <a:r>
                <a:rPr b="0" i="0" lang="en-US" sz="1800" u="none" cap="none" strike="noStrike">
                  <a:solidFill>
                    <a:srgbClr val="4F81BD"/>
                  </a:solidFill>
                  <a:latin typeface="Corbel"/>
                  <a:ea typeface="Corbel"/>
                  <a:cs typeface="Corbel"/>
                  <a:sym typeface="Corbel"/>
                </a:rPr>
                <a:t>C:</a:t>
              </a:r>
              <a:endParaRPr b="0" i="0" sz="1800" u="none" cap="none" strike="noStrike">
                <a:solidFill>
                  <a:srgbClr val="4F81BD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0" name="Google Shape;460;p32"/>
            <p:cNvSpPr txBox="1"/>
            <p:nvPr/>
          </p:nvSpPr>
          <p:spPr>
            <a:xfrm>
              <a:off x="4683539" y="3769620"/>
              <a:ext cx="414486" cy="368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F81BD"/>
                </a:buClr>
                <a:buSzPts val="1800"/>
                <a:buFont typeface="Corbel"/>
                <a:buNone/>
              </a:pPr>
              <a:r>
                <a:rPr b="0" i="0" lang="en-US" sz="1800" u="none" cap="none" strike="noStrike">
                  <a:solidFill>
                    <a:srgbClr val="4F81BD"/>
                  </a:solidFill>
                  <a:latin typeface="Corbel"/>
                  <a:ea typeface="Corbel"/>
                  <a:cs typeface="Corbel"/>
                  <a:sym typeface="Corbel"/>
                </a:rPr>
                <a:t>D:</a:t>
              </a:r>
              <a:endParaRPr b="0" i="0" sz="1800" u="none" cap="none" strike="noStrike">
                <a:solidFill>
                  <a:srgbClr val="4F81BD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1" name="Google Shape;461;p32"/>
            <p:cNvSpPr txBox="1"/>
            <p:nvPr/>
          </p:nvSpPr>
          <p:spPr>
            <a:xfrm>
              <a:off x="4712117" y="4721660"/>
              <a:ext cx="385908" cy="368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F81BD"/>
                </a:buClr>
                <a:buSzPts val="1800"/>
                <a:buFont typeface="Corbel"/>
                <a:buNone/>
              </a:pPr>
              <a:r>
                <a:rPr b="0" i="0" lang="en-US" sz="1800" u="none" cap="none" strike="noStrike">
                  <a:solidFill>
                    <a:srgbClr val="4F81BD"/>
                  </a:solidFill>
                  <a:latin typeface="Corbel"/>
                  <a:ea typeface="Corbel"/>
                  <a:cs typeface="Corbel"/>
                  <a:sym typeface="Corbel"/>
                </a:rPr>
                <a:t>E:</a:t>
              </a:r>
              <a:endParaRPr b="0" i="0" sz="1800" u="none" cap="none" strike="noStrike">
                <a:solidFill>
                  <a:srgbClr val="4F81BD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2" name="Google Shape;462;p32"/>
            <p:cNvSpPr txBox="1"/>
            <p:nvPr/>
          </p:nvSpPr>
          <p:spPr>
            <a:xfrm>
              <a:off x="6052965" y="3760981"/>
              <a:ext cx="374709" cy="368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F81BD"/>
                </a:buClr>
                <a:buSzPts val="1800"/>
                <a:buFont typeface="Corbel"/>
                <a:buNone/>
              </a:pPr>
              <a:r>
                <a:rPr b="0" i="0" lang="en-US" sz="1800" u="none" cap="none" strike="noStrike">
                  <a:solidFill>
                    <a:srgbClr val="4F81BD"/>
                  </a:solidFill>
                  <a:latin typeface="Corbel"/>
                  <a:ea typeface="Corbel"/>
                  <a:cs typeface="Corbel"/>
                  <a:sym typeface="Corbel"/>
                </a:rPr>
                <a:t>F:</a:t>
              </a:r>
              <a:endParaRPr b="0" i="0" sz="1800" u="none" cap="none" strike="noStrike">
                <a:solidFill>
                  <a:srgbClr val="4F81BD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3" name="Google Shape;463;p32"/>
            <p:cNvSpPr txBox="1"/>
            <p:nvPr/>
          </p:nvSpPr>
          <p:spPr>
            <a:xfrm>
              <a:off x="7816768" y="2864847"/>
              <a:ext cx="413786" cy="368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F81BD"/>
                </a:buClr>
                <a:buSzPts val="1800"/>
                <a:buFont typeface="Corbel"/>
                <a:buNone/>
              </a:pPr>
              <a:r>
                <a:rPr b="0" i="0" lang="en-US" sz="1800" u="none" cap="none" strike="noStrike">
                  <a:solidFill>
                    <a:srgbClr val="4F81BD"/>
                  </a:solidFill>
                  <a:latin typeface="Corbel"/>
                  <a:ea typeface="Corbel"/>
                  <a:cs typeface="Corbel"/>
                  <a:sym typeface="Corbel"/>
                </a:rPr>
                <a:t>G:</a:t>
              </a:r>
              <a:endParaRPr b="0" i="0" sz="1800" u="none" cap="none" strike="noStrike">
                <a:solidFill>
                  <a:srgbClr val="4F81BD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464" name="Google Shape;464;p32"/>
          <p:cNvGrpSpPr/>
          <p:nvPr/>
        </p:nvGrpSpPr>
        <p:grpSpPr>
          <a:xfrm>
            <a:off x="4902597" y="6074860"/>
            <a:ext cx="2763779" cy="369332"/>
            <a:chOff x="5162865" y="6141700"/>
            <a:chExt cx="2763779" cy="369332"/>
          </a:xfrm>
        </p:grpSpPr>
        <p:sp>
          <p:nvSpPr>
            <p:cNvPr id="465" name="Google Shape;465;p32"/>
            <p:cNvSpPr/>
            <p:nvPr/>
          </p:nvSpPr>
          <p:spPr>
            <a:xfrm>
              <a:off x="5162865" y="6219124"/>
              <a:ext cx="393158" cy="25708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000000"/>
                </a:gs>
              </a:gsLst>
              <a:lin ang="162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6" name="Google Shape;466;p32"/>
            <p:cNvSpPr txBox="1"/>
            <p:nvPr/>
          </p:nvSpPr>
          <p:spPr>
            <a:xfrm>
              <a:off x="5553240" y="6141700"/>
              <a:ext cx="23734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rbe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rPr>
                <a:t>= cached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rPr>
                <a:t> data partition</a:t>
              </a:r>
              <a:endParaRPr b="0" i="0" sz="1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3"/>
          <p:cNvSpPr txBox="1"/>
          <p:nvPr>
            <p:ph type="title"/>
          </p:nvPr>
        </p:nvSpPr>
        <p:spPr>
          <a:xfrm>
            <a:off x="457200" y="59805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Interactive Spark</a:t>
            </a:r>
            <a:endParaRPr/>
          </a:p>
        </p:txBody>
      </p:sp>
      <p:sp>
        <p:nvSpPr>
          <p:cNvPr id="472" name="Google Shape;472;p33"/>
          <p:cNvSpPr txBox="1"/>
          <p:nvPr>
            <p:ph idx="1" type="body"/>
          </p:nvPr>
        </p:nvSpPr>
        <p:spPr>
          <a:xfrm>
            <a:off x="457200" y="1951038"/>
            <a:ext cx="8305800" cy="4221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/>
              <a:t>Modified Scala interpreter to allow Spark to be used interactively from the command line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/>
              <a:t>Required two changes:</a:t>
            </a:r>
            <a:endParaRPr/>
          </a:p>
          <a:p>
            <a:pPr indent="-2286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</a:pPr>
            <a:r>
              <a:rPr lang="en-US"/>
              <a:t>Modified wrapper code generation so that each line typed has references to objects for its dependencies</a:t>
            </a:r>
            <a:endParaRPr/>
          </a:p>
          <a:p>
            <a:pPr indent="-2286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</a:pPr>
            <a:r>
              <a:rPr lang="en-US"/>
              <a:t>Distribute generated classes over the network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4"/>
          <p:cNvSpPr txBox="1"/>
          <p:nvPr>
            <p:ph type="title"/>
          </p:nvPr>
        </p:nvSpPr>
        <p:spPr>
          <a:xfrm>
            <a:off x="457200" y="381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/>
              <a:t>Spark Operations</a:t>
            </a:r>
            <a:endParaRPr sz="5500"/>
          </a:p>
        </p:txBody>
      </p:sp>
      <p:graphicFrame>
        <p:nvGraphicFramePr>
          <p:cNvPr id="478" name="Google Shape;478;p34"/>
          <p:cNvGraphicFramePr/>
          <p:nvPr/>
        </p:nvGraphicFramePr>
        <p:xfrm>
          <a:off x="4572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{C5CD00F1-E302-42B1-9B0A-E9772AAEFB78}</a:tableStyleId>
              </a:tblPr>
              <a:tblGrid>
                <a:gridCol w="2743200"/>
                <a:gridCol w="2743200"/>
                <a:gridCol w="2743200"/>
              </a:tblGrid>
              <a:tr h="2397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/>
                        <a:t>Transformations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(define a new RDD)</a:t>
                      </a:r>
                      <a:endParaRPr sz="2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map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filter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sample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groupByKey</a:t>
                      </a:r>
                      <a:endParaRPr sz="24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reduceByKey</a:t>
                      </a:r>
                      <a:endParaRPr sz="24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sortByKey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flatMap</a:t>
                      </a:r>
                      <a:endParaRPr sz="24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union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join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cogroup</a:t>
                      </a:r>
                      <a:endParaRPr sz="24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cross</a:t>
                      </a:r>
                      <a:br>
                        <a:rPr lang="en-US" sz="2400" u="none" cap="none" strike="noStrike"/>
                      </a:br>
                      <a:r>
                        <a:rPr lang="en-US" sz="2400" u="none" cap="none" strike="noStrike"/>
                        <a:t>mapValues</a:t>
                      </a:r>
                      <a:endParaRPr sz="2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043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/>
                        <a:t>Actions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(return a result to driver program)</a:t>
                      </a:r>
                      <a:endParaRPr sz="2400" u="none" cap="none" strike="noStrike"/>
                    </a:p>
                  </a:txBody>
                  <a:tcPr marT="45725" marB="45725" marR="91450" marL="91450" anchor="ctr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rbel"/>
                        <a:buNone/>
                      </a:pPr>
                      <a:r>
                        <a:rPr lang="en-US" sz="2400" u="none" cap="none" strike="noStrike"/>
                        <a:t>collect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reduce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count</a:t>
                      </a:r>
                      <a:br>
                        <a:rPr lang="en-US" sz="2400" u="none" cap="none" strike="noStrike"/>
                      </a:br>
                      <a:r>
                        <a:rPr lang="en-US" sz="2400" u="none" cap="none" strike="noStrike"/>
                        <a:t>save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lookupKey</a:t>
                      </a:r>
                      <a:endParaRPr sz="2400" u="none" cap="none" strike="noStrike"/>
                    </a:p>
                  </a:txBody>
                  <a:tcPr marT="45725" marB="45725" marR="91450" marL="91450" anchor="ctr"/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1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8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